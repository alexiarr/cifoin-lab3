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4"/>
  </p:notesMasterIdLst>
  <p:handoutMasterIdLst>
    <p:handoutMasterId r:id="rId15"/>
  </p:handoutMasterIdLst>
  <p:sldIdLst>
    <p:sldId id="256" r:id="rId2"/>
    <p:sldId id="289" r:id="rId3"/>
    <p:sldId id="290" r:id="rId4"/>
    <p:sldId id="296" r:id="rId5"/>
    <p:sldId id="375" r:id="rId6"/>
    <p:sldId id="398" r:id="rId7"/>
    <p:sldId id="399" r:id="rId8"/>
    <p:sldId id="377" r:id="rId9"/>
    <p:sldId id="388" r:id="rId10"/>
    <p:sldId id="391" r:id="rId11"/>
    <p:sldId id="381" r:id="rId12"/>
    <p:sldId id="288" r:id="rId13"/>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FAEE5F-E2EF-408D-AA0D-6D9C1BC62557}" v="244" dt="2026-05-27T11:18:28.191"/>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5" d="100"/>
          <a:sy n="75" d="100"/>
        </p:scale>
        <p:origin x="874" y="43"/>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Bujeda Maicas" userId="S::dbujmai@upv.edu.es::1218fd7a-844c-42f9-a342-8460c647aec0" providerId="AD" clId="Web-{48FA484F-D604-0A5E-B569-3A31BA387429}"/>
    <pc:docChg chg="addSld delSld modSld sldOrd">
      <pc:chgData name="David Bujeda Maicas" userId="S::dbujmai@upv.edu.es::1218fd7a-844c-42f9-a342-8460c647aec0" providerId="AD" clId="Web-{48FA484F-D604-0A5E-B569-3A31BA387429}" dt="2026-05-05T11:47:57.961" v="320" actId="14100"/>
      <pc:docMkLst>
        <pc:docMk/>
      </pc:docMkLst>
      <pc:sldChg chg="modSp">
        <pc:chgData name="David Bujeda Maicas" userId="S::dbujmai@upv.edu.es::1218fd7a-844c-42f9-a342-8460c647aec0" providerId="AD" clId="Web-{48FA484F-D604-0A5E-B569-3A31BA387429}" dt="2026-05-05T10:35:11.337" v="46" actId="20577"/>
        <pc:sldMkLst>
          <pc:docMk/>
          <pc:sldMk cId="730501311" sldId="290"/>
        </pc:sldMkLst>
        <pc:spChg chg="mod">
          <ac:chgData name="David Bujeda Maicas" userId="S::dbujmai@upv.edu.es::1218fd7a-844c-42f9-a342-8460c647aec0" providerId="AD" clId="Web-{48FA484F-D604-0A5E-B569-3A31BA387429}" dt="2026-05-05T10:35:11.337" v="46" actId="20577"/>
          <ac:spMkLst>
            <pc:docMk/>
            <pc:sldMk cId="730501311" sldId="290"/>
            <ac:spMk id="2" creationId="{D0F8CF3B-B920-DBFC-F825-0C87B51EADA7}"/>
          </ac:spMkLst>
        </pc:spChg>
        <pc:spChg chg="mod">
          <ac:chgData name="David Bujeda Maicas" userId="S::dbujmai@upv.edu.es::1218fd7a-844c-42f9-a342-8460c647aec0" providerId="AD" clId="Web-{48FA484F-D604-0A5E-B569-3A31BA387429}" dt="2026-05-05T10:27:19.048" v="1" actId="20577"/>
          <ac:spMkLst>
            <pc:docMk/>
            <pc:sldMk cId="730501311" sldId="290"/>
            <ac:spMk id="4" creationId="{AA9E72FF-B948-6B7A-8909-97C6BE95D6FB}"/>
          </ac:spMkLst>
        </pc:spChg>
        <pc:spChg chg="mod">
          <ac:chgData name="David Bujeda Maicas" userId="S::dbujmai@upv.edu.es::1218fd7a-844c-42f9-a342-8460c647aec0" providerId="AD" clId="Web-{48FA484F-D604-0A5E-B569-3A31BA387429}" dt="2026-05-05T10:33:39.253" v="3" actId="14100"/>
          <ac:spMkLst>
            <pc:docMk/>
            <pc:sldMk cId="730501311" sldId="290"/>
            <ac:spMk id="6" creationId="{82AE4A84-532D-D50D-F368-79FF1C11E97A}"/>
          </ac:spMkLst>
        </pc:spChg>
      </pc:sldChg>
      <pc:sldChg chg="delSp modSp">
        <pc:chgData name="David Bujeda Maicas" userId="S::dbujmai@upv.edu.es::1218fd7a-844c-42f9-a342-8460c647aec0" providerId="AD" clId="Web-{48FA484F-D604-0A5E-B569-3A31BA387429}" dt="2026-05-05T10:51:10.934" v="65" actId="1076"/>
        <pc:sldMkLst>
          <pc:docMk/>
          <pc:sldMk cId="2395180334" sldId="296"/>
        </pc:sldMkLst>
        <pc:spChg chg="mod">
          <ac:chgData name="David Bujeda Maicas" userId="S::dbujmai@upv.edu.es::1218fd7a-844c-42f9-a342-8460c647aec0" providerId="AD" clId="Web-{48FA484F-D604-0A5E-B569-3A31BA387429}" dt="2026-05-05T10:41:52.633" v="55" actId="14100"/>
          <ac:spMkLst>
            <pc:docMk/>
            <pc:sldMk cId="2395180334" sldId="296"/>
            <ac:spMk id="6" creationId="{F95B976F-6522-EA3D-1323-5C97E9F88EDF}"/>
          </ac:spMkLst>
        </pc:spChg>
        <pc:picChg chg="mod">
          <ac:chgData name="David Bujeda Maicas" userId="S::dbujmai@upv.edu.es::1218fd7a-844c-42f9-a342-8460c647aec0" providerId="AD" clId="Web-{48FA484F-D604-0A5E-B569-3A31BA387429}" dt="2026-05-05T10:51:10.934" v="65" actId="1076"/>
          <ac:picMkLst>
            <pc:docMk/>
            <pc:sldMk cId="2395180334" sldId="296"/>
            <ac:picMk id="11" creationId="{D835D5C7-A60C-A405-9502-4932CEED74F0}"/>
          </ac:picMkLst>
        </pc:picChg>
      </pc:sldChg>
      <pc:sldChg chg="delSp modSp">
        <pc:chgData name="David Bujeda Maicas" userId="S::dbujmai@upv.edu.es::1218fd7a-844c-42f9-a342-8460c647aec0" providerId="AD" clId="Web-{48FA484F-D604-0A5E-B569-3A31BA387429}" dt="2026-05-05T10:56:52.885" v="82"/>
        <pc:sldMkLst>
          <pc:docMk/>
          <pc:sldMk cId="1222654462" sldId="375"/>
        </pc:sldMkLst>
        <pc:spChg chg="mod">
          <ac:chgData name="David Bujeda Maicas" userId="S::dbujmai@upv.edu.es::1218fd7a-844c-42f9-a342-8460c647aec0" providerId="AD" clId="Web-{48FA484F-D604-0A5E-B569-3A31BA387429}" dt="2026-05-05T10:55:27.804" v="70" actId="14100"/>
          <ac:spMkLst>
            <pc:docMk/>
            <pc:sldMk cId="1222654462" sldId="375"/>
            <ac:spMk id="3" creationId="{5FB43DF1-4048-35BF-BD58-4BF2A341D2EF}"/>
          </ac:spMkLst>
        </pc:spChg>
      </pc:sldChg>
      <pc:sldChg chg="addSp delSp modSp">
        <pc:chgData name="David Bujeda Maicas" userId="S::dbujmai@upv.edu.es::1218fd7a-844c-42f9-a342-8460c647aec0" providerId="AD" clId="Web-{48FA484F-D604-0A5E-B569-3A31BA387429}" dt="2026-05-05T11:26:18.345" v="189" actId="14100"/>
        <pc:sldMkLst>
          <pc:docMk/>
          <pc:sldMk cId="543184549" sldId="377"/>
        </pc:sldMkLst>
        <pc:spChg chg="mod">
          <ac:chgData name="David Bujeda Maicas" userId="S::dbujmai@upv.edu.es::1218fd7a-844c-42f9-a342-8460c647aec0" providerId="AD" clId="Web-{48FA484F-D604-0A5E-B569-3A31BA387429}" dt="2026-05-05T11:25:25.423" v="175" actId="1076"/>
          <ac:spMkLst>
            <pc:docMk/>
            <pc:sldMk cId="543184549" sldId="377"/>
            <ac:spMk id="8" creationId="{D9601617-351E-AE1A-1F4D-693F2EA59361}"/>
          </ac:spMkLst>
        </pc:spChg>
        <pc:spChg chg="mod">
          <ac:chgData name="David Bujeda Maicas" userId="S::dbujmai@upv.edu.es::1218fd7a-844c-42f9-a342-8460c647aec0" providerId="AD" clId="Web-{48FA484F-D604-0A5E-B569-3A31BA387429}" dt="2026-05-05T11:26:18.345" v="189" actId="14100"/>
          <ac:spMkLst>
            <pc:docMk/>
            <pc:sldMk cId="543184549" sldId="377"/>
            <ac:spMk id="11" creationId="{B811A5F9-C0B5-716C-70FB-9472E1BC2CD3}"/>
          </ac:spMkLst>
        </pc:spChg>
        <pc:spChg chg="mod">
          <ac:chgData name="David Bujeda Maicas" userId="S::dbujmai@upv.edu.es::1218fd7a-844c-42f9-a342-8460c647aec0" providerId="AD" clId="Web-{48FA484F-D604-0A5E-B569-3A31BA387429}" dt="2026-05-05T11:25:49.001" v="182" actId="1076"/>
          <ac:spMkLst>
            <pc:docMk/>
            <pc:sldMk cId="543184549" sldId="377"/>
            <ac:spMk id="14" creationId="{6AA857E7-5C39-DCE1-10B5-40300FCF4B26}"/>
          </ac:spMkLst>
        </pc:spChg>
        <pc:picChg chg="add mod modCrop">
          <ac:chgData name="David Bujeda Maicas" userId="S::dbujmai@upv.edu.es::1218fd7a-844c-42f9-a342-8460c647aec0" providerId="AD" clId="Web-{48FA484F-D604-0A5E-B569-3A31BA387429}" dt="2026-05-05T11:26:09.392" v="188" actId="14100"/>
          <ac:picMkLst>
            <pc:docMk/>
            <pc:sldMk cId="543184549" sldId="377"/>
            <ac:picMk id="2" creationId="{D0B1FF9B-CE09-D2A3-6662-E6F3EE59B1A2}"/>
          </ac:picMkLst>
        </pc:picChg>
        <pc:picChg chg="mod modCrop">
          <ac:chgData name="David Bujeda Maicas" userId="S::dbujmai@upv.edu.es::1218fd7a-844c-42f9-a342-8460c647aec0" providerId="AD" clId="Web-{48FA484F-D604-0A5E-B569-3A31BA387429}" dt="2026-05-05T11:25:52.767" v="184" actId="1076"/>
          <ac:picMkLst>
            <pc:docMk/>
            <pc:sldMk cId="543184549" sldId="377"/>
            <ac:picMk id="4" creationId="{76EA697E-F965-C03E-2305-BD6EFAAC8A36}"/>
          </ac:picMkLst>
        </pc:picChg>
      </pc:sldChg>
      <pc:sldChg chg="delSp modSp">
        <pc:chgData name="David Bujeda Maicas" userId="S::dbujmai@upv.edu.es::1218fd7a-844c-42f9-a342-8460c647aec0" providerId="AD" clId="Web-{48FA484F-D604-0A5E-B569-3A31BA387429}" dt="2026-05-05T11:27:52.408" v="203" actId="1076"/>
        <pc:sldMkLst>
          <pc:docMk/>
          <pc:sldMk cId="2915989261" sldId="388"/>
        </pc:sldMkLst>
        <pc:spChg chg="mod">
          <ac:chgData name="David Bujeda Maicas" userId="S::dbujmai@upv.edu.es::1218fd7a-844c-42f9-a342-8460c647aec0" providerId="AD" clId="Web-{48FA484F-D604-0A5E-B569-3A31BA387429}" dt="2026-05-05T11:27:06.548" v="193" actId="14100"/>
          <ac:spMkLst>
            <pc:docMk/>
            <pc:sldMk cId="2915989261" sldId="388"/>
            <ac:spMk id="10" creationId="{82011495-88D4-8787-6CB7-704897D84CF9}"/>
          </ac:spMkLst>
        </pc:spChg>
      </pc:sldChg>
      <pc:sldChg chg="add replId">
        <pc:chgData name="David Bujeda Maicas" userId="S::dbujmai@upv.edu.es::1218fd7a-844c-42f9-a342-8460c647aec0" providerId="AD" clId="Web-{48FA484F-D604-0A5E-B569-3A31BA387429}" dt="2026-05-05T11:33:12.694" v="204"/>
        <pc:sldMkLst>
          <pc:docMk/>
          <pc:sldMk cId="3455416610" sldId="391"/>
        </pc:sldMkLst>
      </pc:sldChg>
    </pc:docChg>
  </pc:docChgLst>
  <pc:docChgLst>
    <pc:chgData name="Alexia Ruiz Rocamora" userId="103ef104-b4e4-48c1-b8e3-6388a924cd7a" providerId="ADAL" clId="{4576E0F9-38BE-4DD8-8AC3-520E4AD486A4}"/>
    <pc:docChg chg="custSel addSld delSld modSld sldOrd">
      <pc:chgData name="Alexia Ruiz Rocamora" userId="103ef104-b4e4-48c1-b8e3-6388a924cd7a" providerId="ADAL" clId="{4576E0F9-38BE-4DD8-8AC3-520E4AD486A4}" dt="2026-05-27T11:39:14.769" v="7034" actId="20577"/>
      <pc:docMkLst>
        <pc:docMk/>
      </pc:docMkLst>
      <pc:sldChg chg="modSp mod">
        <pc:chgData name="Alexia Ruiz Rocamora" userId="103ef104-b4e4-48c1-b8e3-6388a924cd7a" providerId="ADAL" clId="{4576E0F9-38BE-4DD8-8AC3-520E4AD486A4}" dt="2026-05-12T10:27:59.421" v="150" actId="20577"/>
        <pc:sldMkLst>
          <pc:docMk/>
          <pc:sldMk cId="0" sldId="256"/>
        </pc:sldMkLst>
        <pc:spChg chg="mod">
          <ac:chgData name="Alexia Ruiz Rocamora" userId="103ef104-b4e4-48c1-b8e3-6388a924cd7a" providerId="ADAL" clId="{4576E0F9-38BE-4DD8-8AC3-520E4AD486A4}" dt="2026-05-12T10:27:59.421" v="150" actId="20577"/>
          <ac:spMkLst>
            <pc:docMk/>
            <pc:sldMk cId="0" sldId="256"/>
            <ac:spMk id="4" creationId="{00000000-0000-0000-0000-000000000000}"/>
          </ac:spMkLst>
        </pc:spChg>
      </pc:sldChg>
      <pc:sldChg chg="addSp delSp modSp mod">
        <pc:chgData name="Alexia Ruiz Rocamora" userId="103ef104-b4e4-48c1-b8e3-6388a924cd7a" providerId="ADAL" clId="{4576E0F9-38BE-4DD8-8AC3-520E4AD486A4}" dt="2026-05-24T19:43:43.550" v="5352" actId="20577"/>
        <pc:sldMkLst>
          <pc:docMk/>
          <pc:sldMk cId="730501311" sldId="290"/>
        </pc:sldMkLst>
        <pc:spChg chg="mod">
          <ac:chgData name="Alexia Ruiz Rocamora" userId="103ef104-b4e4-48c1-b8e3-6388a924cd7a" providerId="ADAL" clId="{4576E0F9-38BE-4DD8-8AC3-520E4AD486A4}" dt="2026-05-24T19:43:43.550" v="5352" actId="20577"/>
          <ac:spMkLst>
            <pc:docMk/>
            <pc:sldMk cId="730501311" sldId="290"/>
            <ac:spMk id="2" creationId="{D0F8CF3B-B920-DBFC-F825-0C87B51EADA7}"/>
          </ac:spMkLst>
        </pc:spChg>
        <pc:picChg chg="add mod">
          <ac:chgData name="Alexia Ruiz Rocamora" userId="103ef104-b4e4-48c1-b8e3-6388a924cd7a" providerId="ADAL" clId="{4576E0F9-38BE-4DD8-8AC3-520E4AD486A4}" dt="2026-05-23T17:10:31.469" v="250" actId="1076"/>
          <ac:picMkLst>
            <pc:docMk/>
            <pc:sldMk cId="730501311" sldId="290"/>
            <ac:picMk id="12" creationId="{68E3F90D-70EA-F36A-81D2-5F1B7CE694DA}"/>
          </ac:picMkLst>
        </pc:picChg>
      </pc:sldChg>
      <pc:sldChg chg="addSp modSp mod">
        <pc:chgData name="Alexia Ruiz Rocamora" userId="103ef104-b4e4-48c1-b8e3-6388a924cd7a" providerId="ADAL" clId="{4576E0F9-38BE-4DD8-8AC3-520E4AD486A4}" dt="2026-05-23T17:42:53.520" v="1221" actId="20577"/>
        <pc:sldMkLst>
          <pc:docMk/>
          <pc:sldMk cId="2395180334" sldId="296"/>
        </pc:sldMkLst>
        <pc:spChg chg="mod">
          <ac:chgData name="Alexia Ruiz Rocamora" userId="103ef104-b4e4-48c1-b8e3-6388a924cd7a" providerId="ADAL" clId="{4576E0F9-38BE-4DD8-8AC3-520E4AD486A4}" dt="2026-05-23T17:42:53.520" v="1221" actId="20577"/>
          <ac:spMkLst>
            <pc:docMk/>
            <pc:sldMk cId="2395180334" sldId="296"/>
            <ac:spMk id="2" creationId="{50C41089-061E-9B39-3904-6F31AFE073B8}"/>
          </ac:spMkLst>
        </pc:spChg>
        <pc:picChg chg="add">
          <ac:chgData name="Alexia Ruiz Rocamora" userId="103ef104-b4e4-48c1-b8e3-6388a924cd7a" providerId="ADAL" clId="{4576E0F9-38BE-4DD8-8AC3-520E4AD486A4}" dt="2026-05-05T10:48:38.847" v="6" actId="22"/>
          <ac:picMkLst>
            <pc:docMk/>
            <pc:sldMk cId="2395180334" sldId="296"/>
            <ac:picMk id="11" creationId="{D835D5C7-A60C-A405-9502-4932CEED74F0}"/>
          </ac:picMkLst>
        </pc:picChg>
      </pc:sldChg>
      <pc:sldChg chg="addSp delSp modSp mod">
        <pc:chgData name="Alexia Ruiz Rocamora" userId="103ef104-b4e4-48c1-b8e3-6388a924cd7a" providerId="ADAL" clId="{4576E0F9-38BE-4DD8-8AC3-520E4AD486A4}" dt="2026-05-24T19:46:09.812" v="5355" actId="20577"/>
        <pc:sldMkLst>
          <pc:docMk/>
          <pc:sldMk cId="1222654462" sldId="375"/>
        </pc:sldMkLst>
        <pc:spChg chg="mod">
          <ac:chgData name="Alexia Ruiz Rocamora" userId="103ef104-b4e4-48c1-b8e3-6388a924cd7a" providerId="ADAL" clId="{4576E0F9-38BE-4DD8-8AC3-520E4AD486A4}" dt="2026-05-24T19:46:09.812" v="5355" actId="20577"/>
          <ac:spMkLst>
            <pc:docMk/>
            <pc:sldMk cId="1222654462" sldId="375"/>
            <ac:spMk id="8" creationId="{D9601617-351E-AE1A-1F4D-693F2EA59361}"/>
          </ac:spMkLst>
        </pc:spChg>
        <pc:spChg chg="mod">
          <ac:chgData name="Alexia Ruiz Rocamora" userId="103ef104-b4e4-48c1-b8e3-6388a924cd7a" providerId="ADAL" clId="{4576E0F9-38BE-4DD8-8AC3-520E4AD486A4}" dt="2026-05-23T17:47:17.411" v="1291" actId="20577"/>
          <ac:spMkLst>
            <pc:docMk/>
            <pc:sldMk cId="1222654462" sldId="375"/>
            <ac:spMk id="13" creationId="{98DA9316-CFD5-58C0-735F-237403D53172}"/>
          </ac:spMkLst>
        </pc:spChg>
        <pc:spChg chg="mod">
          <ac:chgData name="Alexia Ruiz Rocamora" userId="103ef104-b4e4-48c1-b8e3-6388a924cd7a" providerId="ADAL" clId="{4576E0F9-38BE-4DD8-8AC3-520E4AD486A4}" dt="2026-05-23T17:46:50.906" v="1282" actId="20577"/>
          <ac:spMkLst>
            <pc:docMk/>
            <pc:sldMk cId="1222654462" sldId="375"/>
            <ac:spMk id="15" creationId="{54CF28B4-1346-F41D-2CD8-EA104ABBFB98}"/>
          </ac:spMkLst>
        </pc:spChg>
        <pc:picChg chg="add mod">
          <ac:chgData name="Alexia Ruiz Rocamora" userId="103ef104-b4e4-48c1-b8e3-6388a924cd7a" providerId="ADAL" clId="{4576E0F9-38BE-4DD8-8AC3-520E4AD486A4}" dt="2026-05-24T19:45:44.960" v="5354" actId="14100"/>
          <ac:picMkLst>
            <pc:docMk/>
            <pc:sldMk cId="1222654462" sldId="375"/>
            <ac:picMk id="2" creationId="{C6E35811-3CCC-E727-4966-833B6501CB03}"/>
          </ac:picMkLst>
        </pc:picChg>
      </pc:sldChg>
      <pc:sldChg chg="addSp delSp modSp del mod">
        <pc:chgData name="Alexia Ruiz Rocamora" userId="103ef104-b4e4-48c1-b8e3-6388a924cd7a" providerId="ADAL" clId="{4576E0F9-38BE-4DD8-8AC3-520E4AD486A4}" dt="2026-05-26T19:18:14.276" v="5640" actId="47"/>
        <pc:sldMkLst>
          <pc:docMk/>
          <pc:sldMk cId="1475710608" sldId="376"/>
        </pc:sldMkLst>
        <pc:spChg chg="mod">
          <ac:chgData name="Alexia Ruiz Rocamora" userId="103ef104-b4e4-48c1-b8e3-6388a924cd7a" providerId="ADAL" clId="{4576E0F9-38BE-4DD8-8AC3-520E4AD486A4}" dt="2026-05-26T10:36:08.681" v="5611" actId="20577"/>
          <ac:spMkLst>
            <pc:docMk/>
            <pc:sldMk cId="1475710608" sldId="376"/>
            <ac:spMk id="13" creationId="{1E286371-F443-FD5C-BF57-FB23A8D7F4F7}"/>
          </ac:spMkLst>
        </pc:spChg>
      </pc:sldChg>
      <pc:sldChg chg="addSp modSp mod">
        <pc:chgData name="Alexia Ruiz Rocamora" userId="103ef104-b4e4-48c1-b8e3-6388a924cd7a" providerId="ADAL" clId="{4576E0F9-38BE-4DD8-8AC3-520E4AD486A4}" dt="2026-05-25T16:51:27.686" v="5602" actId="20577"/>
        <pc:sldMkLst>
          <pc:docMk/>
          <pc:sldMk cId="543184549" sldId="377"/>
        </pc:sldMkLst>
        <pc:spChg chg="mod">
          <ac:chgData name="Alexia Ruiz Rocamora" userId="103ef104-b4e4-48c1-b8e3-6388a924cd7a" providerId="ADAL" clId="{4576E0F9-38BE-4DD8-8AC3-520E4AD486A4}" dt="2026-05-25T16:51:27.686" v="5602" actId="20577"/>
          <ac:spMkLst>
            <pc:docMk/>
            <pc:sldMk cId="543184549" sldId="377"/>
            <ac:spMk id="8" creationId="{D9601617-351E-AE1A-1F4D-693F2EA59361}"/>
          </ac:spMkLst>
        </pc:spChg>
        <pc:picChg chg="mod">
          <ac:chgData name="Alexia Ruiz Rocamora" userId="103ef104-b4e4-48c1-b8e3-6388a924cd7a" providerId="ADAL" clId="{4576E0F9-38BE-4DD8-8AC3-520E4AD486A4}" dt="2026-05-25T16:38:55.416" v="5364" actId="1076"/>
          <ac:picMkLst>
            <pc:docMk/>
            <pc:sldMk cId="543184549" sldId="377"/>
            <ac:picMk id="2" creationId="{D0B1FF9B-CE09-D2A3-6662-E6F3EE59B1A2}"/>
          </ac:picMkLst>
        </pc:picChg>
        <pc:picChg chg="add mod">
          <ac:chgData name="Alexia Ruiz Rocamora" userId="103ef104-b4e4-48c1-b8e3-6388a924cd7a" providerId="ADAL" clId="{4576E0F9-38BE-4DD8-8AC3-520E4AD486A4}" dt="2026-05-25T16:38:53.058" v="5363" actId="1076"/>
          <ac:picMkLst>
            <pc:docMk/>
            <pc:sldMk cId="543184549" sldId="377"/>
            <ac:picMk id="4" creationId="{76EA697E-F965-C03E-2305-BD6EFAAC8A36}"/>
          </ac:picMkLst>
        </pc:picChg>
      </pc:sldChg>
      <pc:sldChg chg="addSp delSp modSp mod">
        <pc:chgData name="Alexia Ruiz Rocamora" userId="103ef104-b4e4-48c1-b8e3-6388a924cd7a" providerId="ADAL" clId="{4576E0F9-38BE-4DD8-8AC3-520E4AD486A4}" dt="2026-05-24T19:39:13.109" v="5351" actId="20577"/>
        <pc:sldMkLst>
          <pc:docMk/>
          <pc:sldMk cId="1461196698" sldId="381"/>
        </pc:sldMkLst>
        <pc:spChg chg="mod">
          <ac:chgData name="Alexia Ruiz Rocamora" userId="103ef104-b4e4-48c1-b8e3-6388a924cd7a" providerId="ADAL" clId="{4576E0F9-38BE-4DD8-8AC3-520E4AD486A4}" dt="2026-05-24T19:39:13.109" v="5351" actId="20577"/>
          <ac:spMkLst>
            <pc:docMk/>
            <pc:sldMk cId="1461196698" sldId="381"/>
            <ac:spMk id="8" creationId="{D9601617-351E-AE1A-1F4D-693F2EA59361}"/>
          </ac:spMkLst>
        </pc:spChg>
        <pc:picChg chg="add mod">
          <ac:chgData name="Alexia Ruiz Rocamora" userId="103ef104-b4e4-48c1-b8e3-6388a924cd7a" providerId="ADAL" clId="{4576E0F9-38BE-4DD8-8AC3-520E4AD486A4}" dt="2026-05-24T08:34:07.678" v="4882" actId="1076"/>
          <ac:picMkLst>
            <pc:docMk/>
            <pc:sldMk cId="1461196698" sldId="381"/>
            <ac:picMk id="4" creationId="{A9B03AEE-DFC8-C80A-0512-31493E02A424}"/>
          </ac:picMkLst>
        </pc:picChg>
      </pc:sldChg>
      <pc:sldChg chg="addSp delSp modSp mod">
        <pc:chgData name="Alexia Ruiz Rocamora" userId="103ef104-b4e4-48c1-b8e3-6388a924cd7a" providerId="ADAL" clId="{4576E0F9-38BE-4DD8-8AC3-520E4AD486A4}" dt="2026-05-24T08:13:55.661" v="4361" actId="478"/>
        <pc:sldMkLst>
          <pc:docMk/>
          <pc:sldMk cId="2915989261" sldId="388"/>
        </pc:sldMkLst>
        <pc:spChg chg="mod">
          <ac:chgData name="Alexia Ruiz Rocamora" userId="103ef104-b4e4-48c1-b8e3-6388a924cd7a" providerId="ADAL" clId="{4576E0F9-38BE-4DD8-8AC3-520E4AD486A4}" dt="2026-05-24T08:13:01.291" v="4348" actId="20577"/>
          <ac:spMkLst>
            <pc:docMk/>
            <pc:sldMk cId="2915989261" sldId="388"/>
            <ac:spMk id="8" creationId="{3BC6D2B9-07F5-E2FA-C9AD-029B63B098DA}"/>
          </ac:spMkLst>
        </pc:spChg>
        <pc:picChg chg="add mod">
          <ac:chgData name="Alexia Ruiz Rocamora" userId="103ef104-b4e4-48c1-b8e3-6388a924cd7a" providerId="ADAL" clId="{4576E0F9-38BE-4DD8-8AC3-520E4AD486A4}" dt="2026-05-24T08:13:21.306" v="4349" actId="1076"/>
          <ac:picMkLst>
            <pc:docMk/>
            <pc:sldMk cId="2915989261" sldId="388"/>
            <ac:picMk id="7" creationId="{B5BD54BD-1655-DB6F-1F60-AC0414EE3E77}"/>
          </ac:picMkLst>
        </pc:picChg>
      </pc:sldChg>
      <pc:sldChg chg="addSp delSp modSp mod">
        <pc:chgData name="Alexia Ruiz Rocamora" userId="103ef104-b4e4-48c1-b8e3-6388a924cd7a" providerId="ADAL" clId="{4576E0F9-38BE-4DD8-8AC3-520E4AD486A4}" dt="2026-05-24T08:32:36.088" v="4869" actId="5793"/>
        <pc:sldMkLst>
          <pc:docMk/>
          <pc:sldMk cId="3455416610" sldId="391"/>
        </pc:sldMkLst>
        <pc:spChg chg="mod">
          <ac:chgData name="Alexia Ruiz Rocamora" userId="103ef104-b4e4-48c1-b8e3-6388a924cd7a" providerId="ADAL" clId="{4576E0F9-38BE-4DD8-8AC3-520E4AD486A4}" dt="2026-05-24T08:32:36.088" v="4869" actId="5793"/>
          <ac:spMkLst>
            <pc:docMk/>
            <pc:sldMk cId="3455416610" sldId="391"/>
            <ac:spMk id="8" creationId="{C9AC04B6-1A34-BABB-8C25-C715404165A2}"/>
          </ac:spMkLst>
        </pc:spChg>
        <pc:picChg chg="add mod">
          <ac:chgData name="Alexia Ruiz Rocamora" userId="103ef104-b4e4-48c1-b8e3-6388a924cd7a" providerId="ADAL" clId="{4576E0F9-38BE-4DD8-8AC3-520E4AD486A4}" dt="2026-05-24T08:19:04.885" v="4373" actId="1076"/>
          <ac:picMkLst>
            <pc:docMk/>
            <pc:sldMk cId="3455416610" sldId="391"/>
            <ac:picMk id="18" creationId="{7EB7E535-97F4-7B8E-B278-760728CEC3EE}"/>
          </ac:picMkLst>
        </pc:picChg>
        <pc:picChg chg="add mod">
          <ac:chgData name="Alexia Ruiz Rocamora" userId="103ef104-b4e4-48c1-b8e3-6388a924cd7a" providerId="ADAL" clId="{4576E0F9-38BE-4DD8-8AC3-520E4AD486A4}" dt="2026-05-24T08:20:07.456" v="4377" actId="1076"/>
          <ac:picMkLst>
            <pc:docMk/>
            <pc:sldMk cId="3455416610" sldId="391"/>
            <ac:picMk id="21" creationId="{A904A1F8-481D-2CF3-B28D-33560EABBC1C}"/>
          </ac:picMkLst>
        </pc:picChg>
      </pc:sldChg>
      <pc:sldChg chg="addSp delSp modSp add del mod">
        <pc:chgData name="Alexia Ruiz Rocamora" userId="103ef104-b4e4-48c1-b8e3-6388a924cd7a" providerId="ADAL" clId="{4576E0F9-38BE-4DD8-8AC3-520E4AD486A4}" dt="2026-05-26T19:18:02.858" v="5639" actId="47"/>
        <pc:sldMkLst>
          <pc:docMk/>
          <pc:sldMk cId="1635538090" sldId="397"/>
        </pc:sldMkLst>
        <pc:spChg chg="mod">
          <ac:chgData name="Alexia Ruiz Rocamora" userId="103ef104-b4e4-48c1-b8e3-6388a924cd7a" providerId="ADAL" clId="{4576E0F9-38BE-4DD8-8AC3-520E4AD486A4}" dt="2026-05-26T10:36:17.849" v="5617" actId="20577"/>
          <ac:spMkLst>
            <pc:docMk/>
            <pc:sldMk cId="1635538090" sldId="397"/>
            <ac:spMk id="13" creationId="{0DDC95A3-1D4E-4161-9C21-7A30A1DB8177}"/>
          </ac:spMkLst>
        </pc:spChg>
      </pc:sldChg>
      <pc:sldChg chg="addSp delSp modSp add mod ord">
        <pc:chgData name="Alexia Ruiz Rocamora" userId="103ef104-b4e4-48c1-b8e3-6388a924cd7a" providerId="ADAL" clId="{4576E0F9-38BE-4DD8-8AC3-520E4AD486A4}" dt="2026-05-27T11:21:23.406" v="6059" actId="20577"/>
        <pc:sldMkLst>
          <pc:docMk/>
          <pc:sldMk cId="3435094062" sldId="398"/>
        </pc:sldMkLst>
        <pc:spChg chg="mod">
          <ac:chgData name="Alexia Ruiz Rocamora" userId="103ef104-b4e4-48c1-b8e3-6388a924cd7a" providerId="ADAL" clId="{4576E0F9-38BE-4DD8-8AC3-520E4AD486A4}" dt="2026-05-27T11:21:23.406" v="6059" actId="20577"/>
          <ac:spMkLst>
            <pc:docMk/>
            <pc:sldMk cId="3435094062" sldId="398"/>
            <ac:spMk id="2" creationId="{80549B71-9D6F-09A4-A56E-F47E64164AB0}"/>
          </ac:spMkLst>
        </pc:spChg>
        <pc:picChg chg="add mod">
          <ac:chgData name="Alexia Ruiz Rocamora" userId="103ef104-b4e4-48c1-b8e3-6388a924cd7a" providerId="ADAL" clId="{4576E0F9-38BE-4DD8-8AC3-520E4AD486A4}" dt="2026-05-26T18:50:51.847" v="5623" actId="1076"/>
          <ac:picMkLst>
            <pc:docMk/>
            <pc:sldMk cId="3435094062" sldId="398"/>
            <ac:picMk id="8" creationId="{A0AC8167-89D8-C79C-4A1B-2364C4C124DE}"/>
          </ac:picMkLst>
        </pc:picChg>
        <pc:picChg chg="del">
          <ac:chgData name="Alexia Ruiz Rocamora" userId="103ef104-b4e4-48c1-b8e3-6388a924cd7a" providerId="ADAL" clId="{4576E0F9-38BE-4DD8-8AC3-520E4AD486A4}" dt="2026-05-26T18:50:41.918" v="5618" actId="478"/>
          <ac:picMkLst>
            <pc:docMk/>
            <pc:sldMk cId="3435094062" sldId="398"/>
            <ac:picMk id="16" creationId="{7A0253EA-34C4-F579-7FF6-04D4F85BCAF5}"/>
          </ac:picMkLst>
        </pc:picChg>
      </pc:sldChg>
      <pc:sldChg chg="addSp delSp modSp add mod">
        <pc:chgData name="Alexia Ruiz Rocamora" userId="103ef104-b4e4-48c1-b8e3-6388a924cd7a" providerId="ADAL" clId="{4576E0F9-38BE-4DD8-8AC3-520E4AD486A4}" dt="2026-05-27T11:39:14.769" v="7034" actId="20577"/>
        <pc:sldMkLst>
          <pc:docMk/>
          <pc:sldMk cId="2258742307" sldId="399"/>
        </pc:sldMkLst>
        <pc:spChg chg="mod">
          <ac:chgData name="Alexia Ruiz Rocamora" userId="103ef104-b4e4-48c1-b8e3-6388a924cd7a" providerId="ADAL" clId="{4576E0F9-38BE-4DD8-8AC3-520E4AD486A4}" dt="2026-05-27T11:39:14.769" v="7034" actId="20577"/>
          <ac:spMkLst>
            <pc:docMk/>
            <pc:sldMk cId="2258742307" sldId="399"/>
            <ac:spMk id="2" creationId="{305169C8-1970-93CE-E3F4-060DE50AFFB7}"/>
          </ac:spMkLst>
        </pc:spChg>
        <pc:spChg chg="mod">
          <ac:chgData name="Alexia Ruiz Rocamora" userId="103ef104-b4e4-48c1-b8e3-6388a924cd7a" providerId="ADAL" clId="{4576E0F9-38BE-4DD8-8AC3-520E4AD486A4}" dt="2026-05-26T18:52:09.278" v="5632"/>
          <ac:spMkLst>
            <pc:docMk/>
            <pc:sldMk cId="2258742307" sldId="399"/>
            <ac:spMk id="7" creationId="{5C79C3D3-A414-D20A-CFF3-6D53EFB8D7B8}"/>
          </ac:spMkLst>
        </pc:spChg>
        <pc:picChg chg="del">
          <ac:chgData name="Alexia Ruiz Rocamora" userId="103ef104-b4e4-48c1-b8e3-6388a924cd7a" providerId="ADAL" clId="{4576E0F9-38BE-4DD8-8AC3-520E4AD486A4}" dt="2026-05-26T18:51:13.254" v="5625" actId="478"/>
          <ac:picMkLst>
            <pc:docMk/>
            <pc:sldMk cId="2258742307" sldId="399"/>
            <ac:picMk id="8" creationId="{E53F250D-A99C-3A48-2F86-47EAE3C71B87}"/>
          </ac:picMkLst>
        </pc:picChg>
        <pc:picChg chg="add del mod">
          <ac:chgData name="Alexia Ruiz Rocamora" userId="103ef104-b4e4-48c1-b8e3-6388a924cd7a" providerId="ADAL" clId="{4576E0F9-38BE-4DD8-8AC3-520E4AD486A4}" dt="2026-05-26T19:07:47.817" v="5633" actId="478"/>
          <ac:picMkLst>
            <pc:docMk/>
            <pc:sldMk cId="2258742307" sldId="399"/>
            <ac:picMk id="11" creationId="{2750B09A-2542-49C2-F248-D49C6D19755D}"/>
          </ac:picMkLst>
        </pc:picChg>
        <pc:picChg chg="add mod">
          <ac:chgData name="Alexia Ruiz Rocamora" userId="103ef104-b4e4-48c1-b8e3-6388a924cd7a" providerId="ADAL" clId="{4576E0F9-38BE-4DD8-8AC3-520E4AD486A4}" dt="2026-05-26T19:07:55.783" v="5638" actId="14100"/>
          <ac:picMkLst>
            <pc:docMk/>
            <pc:sldMk cId="2258742307" sldId="399"/>
            <ac:picMk id="14" creationId="{751D3DA2-B3D0-7771-39BF-E296A2E6061C}"/>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27/05/2026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27/05/2026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DCA2C-DC1C-94AC-4B44-E792E810571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3DDFC22-9D5D-07E4-D6DC-4D9F86CC1C7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FDA27A-7867-5B97-DBC7-5AFE21A3C8C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C3521375-3405-AFF1-9827-86123C005F32}"/>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5748841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3.0. CIRCUITS &amp; COMPACT MODELS</a:t>
            </a:r>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exto simple">
    <p:spTree>
      <p:nvGrpSpPr>
        <p:cNvPr id="1" name=""/>
        <p:cNvGrpSpPr/>
        <p:nvPr/>
      </p:nvGrpSpPr>
      <p:grpSpPr>
        <a:xfrm>
          <a:off x="0" y="0"/>
          <a:ext cx="0" cy="0"/>
          <a:chOff x="0" y="0"/>
          <a:chExt cx="0" cy="0"/>
        </a:xfrm>
      </p:grpSpPr>
      <p:sp>
        <p:nvSpPr>
          <p:cNvPr id="6" name="Rectangle 47"/>
          <p:cNvSpPr/>
          <p:nvPr userDrawn="1"/>
        </p:nvSpPr>
        <p:spPr>
          <a:xfrm>
            <a:off x="608171" y="381001"/>
            <a:ext cx="45731" cy="68349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Título 8"/>
          <p:cNvSpPr>
            <a:spLocks noGrp="1"/>
          </p:cNvSpPr>
          <p:nvPr>
            <p:ph type="title" hasCustomPrompt="1"/>
          </p:nvPr>
        </p:nvSpPr>
        <p:spPr>
          <a:xfrm>
            <a:off x="736652" y="381000"/>
            <a:ext cx="7778317" cy="313782"/>
          </a:xfrm>
        </p:spPr>
        <p:txBody>
          <a:bodyPr>
            <a:normAutofit/>
          </a:bodyPr>
          <a:lstStyle>
            <a:lvl1pPr algn="l">
              <a:defRPr sz="2800" b="1" i="0" baseline="0">
                <a:solidFill>
                  <a:schemeClr val="tx1">
                    <a:lumMod val="65000"/>
                    <a:lumOff val="35000"/>
                  </a:schemeClr>
                </a:solidFill>
                <a:latin typeface="Calibri" panose="020F0502020204030204" pitchFamily="34" charset="0"/>
                <a:ea typeface="Open Sans Extrabold" panose="020B0906030804020204" pitchFamily="34" charset="0"/>
                <a:cs typeface="Calibri" panose="020F0502020204030204" pitchFamily="34" charset="0"/>
              </a:defRPr>
            </a:lvl1pPr>
          </a:lstStyle>
          <a:p>
            <a:r>
              <a:rPr lang="es-ES"/>
              <a:t>TITULO</a:t>
            </a:r>
          </a:p>
        </p:txBody>
      </p:sp>
      <p:sp>
        <p:nvSpPr>
          <p:cNvPr id="13" name="Marcador de texto 12"/>
          <p:cNvSpPr>
            <a:spLocks noGrp="1"/>
          </p:cNvSpPr>
          <p:nvPr>
            <p:ph type="body" sz="quarter" idx="10" hasCustomPrompt="1"/>
          </p:nvPr>
        </p:nvSpPr>
        <p:spPr>
          <a:xfrm>
            <a:off x="608171" y="1295401"/>
            <a:ext cx="11051877" cy="4958137"/>
          </a:xfrm>
        </p:spPr>
        <p:txBody>
          <a:bodyPr>
            <a:normAutofit/>
          </a:bodyPr>
          <a:lstStyle>
            <a:lvl1pPr>
              <a:defRPr sz="2400" baseline="0">
                <a:latin typeface="Calibri" panose="020F0502020204030204" pitchFamily="34" charset="0"/>
                <a:ea typeface="Open Sans Light" panose="020B0306030504020204" pitchFamily="34" charset="0"/>
                <a:cs typeface="Calibri" panose="020F0502020204030204" pitchFamily="34" charset="0"/>
              </a:defRPr>
            </a:lvl1pPr>
            <a:lvl2pPr>
              <a:defRPr sz="1800">
                <a:latin typeface="Calibri" panose="020F0502020204030204" pitchFamily="34" charset="0"/>
                <a:ea typeface="Open Sans Light" panose="020B0306030504020204" pitchFamily="34" charset="0"/>
                <a:cs typeface="Calibri" panose="020F0502020204030204" pitchFamily="34" charset="0"/>
              </a:defRPr>
            </a:lvl2pPr>
            <a:lvl3pPr>
              <a:defRPr sz="1600">
                <a:latin typeface="Calibri" panose="020F0502020204030204" pitchFamily="34" charset="0"/>
                <a:ea typeface="Open Sans Light" panose="020B0306030504020204" pitchFamily="34" charset="0"/>
                <a:cs typeface="Calibri" panose="020F0502020204030204" pitchFamily="34" charset="0"/>
              </a:defRPr>
            </a:lvl3pPr>
            <a:lvl4pPr>
              <a:defRPr sz="1400">
                <a:latin typeface="Calibri" panose="020F0502020204030204" pitchFamily="34" charset="0"/>
                <a:ea typeface="Open Sans Light" panose="020B0306030504020204" pitchFamily="34" charset="0"/>
                <a:cs typeface="Calibri" panose="020F0502020204030204" pitchFamily="34" charset="0"/>
              </a:defRPr>
            </a:lvl4pPr>
            <a:lvl5pPr>
              <a:defRPr sz="1400">
                <a:latin typeface="Calibri" panose="020F0502020204030204" pitchFamily="34" charset="0"/>
                <a:ea typeface="Open Sans Light" panose="020B0306030504020204" pitchFamily="34" charset="0"/>
                <a:cs typeface="Calibri" panose="020F0502020204030204" pitchFamily="34" charset="0"/>
              </a:defRPr>
            </a:lvl5pPr>
          </a:lstStyle>
          <a:p>
            <a:pPr lvl="0"/>
            <a:r>
              <a:rPr lang="es-ES"/>
              <a:t>Texto del contenido</a:t>
            </a:r>
          </a:p>
          <a:p>
            <a:pPr lvl="1"/>
            <a:r>
              <a:rPr lang="es-ES"/>
              <a:t>Segundo nivel</a:t>
            </a:r>
          </a:p>
          <a:p>
            <a:pPr lvl="2"/>
            <a:r>
              <a:rPr lang="es-ES"/>
              <a:t>Tercer nivel</a:t>
            </a:r>
          </a:p>
          <a:p>
            <a:pPr lvl="3"/>
            <a:r>
              <a:rPr lang="es-ES"/>
              <a:t>Cuarto nivel</a:t>
            </a:r>
          </a:p>
          <a:p>
            <a:pPr lvl="4"/>
            <a:r>
              <a:rPr lang="es-ES"/>
              <a:t>Quinto nivel</a:t>
            </a:r>
          </a:p>
        </p:txBody>
      </p:sp>
      <p:sp>
        <p:nvSpPr>
          <p:cNvPr id="23" name="Marcador de texto 22"/>
          <p:cNvSpPr>
            <a:spLocks noGrp="1"/>
          </p:cNvSpPr>
          <p:nvPr>
            <p:ph type="body" sz="quarter" idx="11" hasCustomPrompt="1"/>
          </p:nvPr>
        </p:nvSpPr>
        <p:spPr>
          <a:xfrm>
            <a:off x="736652" y="730647"/>
            <a:ext cx="7778317" cy="381000"/>
          </a:xfrm>
        </p:spPr>
        <p:txBody>
          <a:bodyPr>
            <a:noAutofit/>
          </a:bodyPr>
          <a:lstStyle>
            <a:lvl1pPr marL="0" indent="0">
              <a:buNone/>
              <a:defRPr sz="2000">
                <a:latin typeface="Calibri" panose="020F0502020204030204" pitchFamily="34" charset="0"/>
                <a:ea typeface="Open Sans Light" panose="020B0306030504020204" pitchFamily="34" charset="0"/>
                <a:cs typeface="Calibri" panose="020F0502020204030204" pitchFamily="34" charset="0"/>
              </a:defRPr>
            </a:lvl1pPr>
          </a:lstStyle>
          <a:p>
            <a:pPr lvl="0"/>
            <a:r>
              <a:rPr lang="es-ES"/>
              <a:t>Subtítulo del artículo con una explicación corta a modo resumen</a:t>
            </a:r>
          </a:p>
        </p:txBody>
      </p:sp>
      <p:sp>
        <p:nvSpPr>
          <p:cNvPr id="11" name="Date Placeholder 3"/>
          <p:cNvSpPr>
            <a:spLocks noGrp="1"/>
          </p:cNvSpPr>
          <p:nvPr>
            <p:ph type="dt" sz="half" idx="2"/>
          </p:nvPr>
        </p:nvSpPr>
        <p:spPr>
          <a:xfrm>
            <a:off x="609600" y="6387407"/>
            <a:ext cx="1980287" cy="303019"/>
          </a:xfrm>
          <a:prstGeom prst="rect">
            <a:avLst/>
          </a:prstGeom>
        </p:spPr>
        <p:txBody>
          <a:bodyPr vert="horz" lIns="117208" tIns="58604" rIns="117208" bIns="58604" rtlCol="0" anchor="ctr"/>
          <a:lstStyle>
            <a:lvl1pPr algn="l">
              <a:defRPr sz="1200">
                <a:solidFill>
                  <a:schemeClr val="tx1">
                    <a:tint val="75000"/>
                  </a:schemeClr>
                </a:solidFill>
              </a:defRPr>
            </a:lvl1pPr>
          </a:lstStyle>
          <a:p>
            <a:endParaRPr lang="en-US"/>
          </a:p>
        </p:txBody>
      </p:sp>
      <p:sp>
        <p:nvSpPr>
          <p:cNvPr id="12" name="Footer Placeholder 4"/>
          <p:cNvSpPr>
            <a:spLocks noGrp="1"/>
          </p:cNvSpPr>
          <p:nvPr>
            <p:ph type="ftr" sz="quarter" idx="3"/>
          </p:nvPr>
        </p:nvSpPr>
        <p:spPr>
          <a:xfrm>
            <a:off x="2894768" y="6387407"/>
            <a:ext cx="6402465" cy="303019"/>
          </a:xfrm>
          <a:prstGeom prst="rect">
            <a:avLst/>
          </a:prstGeom>
        </p:spPr>
        <p:txBody>
          <a:bodyPr vert="horz" lIns="117208" tIns="58604" rIns="117208" bIns="58604" rtlCol="0" anchor="ctr"/>
          <a:lstStyle>
            <a:lvl1pPr algn="ctr">
              <a:defRPr sz="1200">
                <a:solidFill>
                  <a:schemeClr val="tx1">
                    <a:tint val="75000"/>
                  </a:schemeClr>
                </a:solidFill>
              </a:defRPr>
            </a:lvl1pPr>
          </a:lstStyle>
          <a:p>
            <a:r>
              <a:rPr lang="en-US"/>
              <a:t>LAB 3.0. CIRCUITS &amp; COMPACT MODELS</a:t>
            </a:r>
          </a:p>
        </p:txBody>
      </p:sp>
      <p:sp>
        <p:nvSpPr>
          <p:cNvPr id="14" name="Slide Number Placeholder 5"/>
          <p:cNvSpPr>
            <a:spLocks noGrp="1"/>
          </p:cNvSpPr>
          <p:nvPr>
            <p:ph type="sldNum" sz="quarter" idx="4"/>
          </p:nvPr>
        </p:nvSpPr>
        <p:spPr>
          <a:xfrm>
            <a:off x="11431389" y="6388096"/>
            <a:ext cx="760611" cy="303019"/>
          </a:xfrm>
          <a:prstGeom prst="rect">
            <a:avLst/>
          </a:prstGeom>
          <a:solidFill>
            <a:schemeClr val="bg2"/>
          </a:solidFill>
        </p:spPr>
        <p:txBody>
          <a:bodyPr vert="horz" lIns="117208" tIns="58604" rIns="117208" bIns="58604" rtlCol="0" anchor="ctr"/>
          <a:lstStyle>
            <a:lvl1pPr algn="r">
              <a:defRPr sz="1200">
                <a:solidFill>
                  <a:srgbClr val="FF6309"/>
                </a:solidFill>
              </a:defRPr>
            </a:lvl1pPr>
          </a:lstStyle>
          <a:p>
            <a:fld id="{C2F52289-4012-4053-9770-FE82CEB9514F}" type="slidenum">
              <a:rPr lang="en-US" smtClean="0"/>
              <a:pPr/>
              <a:t>‹Nº›</a:t>
            </a:fld>
            <a:endParaRPr lang="en-US"/>
          </a:p>
        </p:txBody>
      </p:sp>
    </p:spTree>
    <p:extLst>
      <p:ext uri="{BB962C8B-B14F-4D97-AF65-F5344CB8AC3E}">
        <p14:creationId xmlns:p14="http://schemas.microsoft.com/office/powerpoint/2010/main" val="30246403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8"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sv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sv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9213724" cy="505267"/>
          </a:xfrm>
          <a:prstGeom prst="rect">
            <a:avLst/>
          </a:prstGeom>
        </p:spPr>
        <p:txBody>
          <a:bodyPr vert="horz" wrap="square" lIns="0" tIns="12700" rIns="0" bIns="0" rtlCol="0">
            <a:spAutoFit/>
          </a:bodyPr>
          <a:lstStyle/>
          <a:p>
            <a:pPr marL="12700">
              <a:lnSpc>
                <a:spcPct val="100000"/>
              </a:lnSpc>
              <a:spcBef>
                <a:spcPts val="100"/>
              </a:spcBef>
            </a:pPr>
            <a:r>
              <a:rPr lang="es-ES" sz="3200" b="1">
                <a:latin typeface="Lucida Sans"/>
                <a:cs typeface="Lucida Sans"/>
              </a:rPr>
              <a:t>Lab Book 3.0 Circuits and Compact </a:t>
            </a:r>
            <a:r>
              <a:rPr lang="es-ES" sz="3200" b="1" err="1">
                <a:latin typeface="Lucida Sans"/>
                <a:cs typeface="Lucida Sans"/>
              </a:rPr>
              <a:t>Models</a:t>
            </a:r>
            <a:endParaRPr sz="320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David Bujeda </a:t>
            </a:r>
            <a:r>
              <a:rPr lang="es-ES" spc="165" dirty="0" err="1">
                <a:latin typeface="Arial"/>
                <a:cs typeface="Arial"/>
              </a:rPr>
              <a:t>Maícas</a:t>
            </a:r>
            <a:r>
              <a:rPr lang="es-ES" spc="165" dirty="0">
                <a:latin typeface="Arial"/>
                <a:cs typeface="Arial"/>
              </a:rPr>
              <a:t> y Alexia Ruiz Rocamora</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err="1">
                <a:latin typeface="+mj-lt"/>
                <a:cs typeface="Lucida Sans"/>
              </a:rPr>
              <a:t>Instructions</a:t>
            </a:r>
            <a:br>
              <a:rPr lang="es-ES" sz="2400" spc="-5">
                <a:latin typeface="+mj-lt"/>
                <a:cs typeface="Lucida Sans"/>
              </a:rPr>
            </a:br>
            <a:r>
              <a:rPr lang="es-ES" b="0" spc="-5">
                <a:latin typeface="+mj-lt"/>
                <a:cs typeface="Lucida Sans"/>
              </a:rPr>
              <a:t>General</a:t>
            </a:r>
            <a:endParaRPr sz="2400" b="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3.0. CIRCUITS &amp; COMPACT MODELS</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a:solidFill>
                  <a:sysClr val="windowText" lastClr="000000"/>
                </a:solidFill>
                <a:sym typeface="Wingdings" pitchFamily="2" charset="2"/>
              </a:rPr>
              <a:t>Fork the repo: https://github.com/cccanvas-upv/cifoin-lab3.git</a:t>
            </a:r>
          </a:p>
          <a:p>
            <a:pPr marL="800100" lvl="1" indent="-342900" algn="just">
              <a:buFont typeface="Arial" panose="020B0604020202020204" pitchFamily="34" charset="0"/>
              <a:buChar char="•"/>
            </a:pPr>
            <a:r>
              <a:rPr lang="en-US" kern="0">
                <a:solidFill>
                  <a:sysClr val="windowText" lastClr="000000"/>
                </a:solidFill>
                <a:sym typeface="Wingdings" pitchFamily="2" charset="2"/>
              </a:rPr>
              <a:t>Clone the repo using </a:t>
            </a:r>
            <a:r>
              <a:rPr lang="en-US" kern="0" err="1">
                <a:solidFill>
                  <a:sysClr val="windowText" lastClr="000000"/>
                </a:solidFill>
                <a:sym typeface="Wingdings" pitchFamily="2" charset="2"/>
              </a:rPr>
              <a:t>VSCode</a:t>
            </a:r>
            <a:endParaRPr lang="en-US" kern="0">
              <a:solidFill>
                <a:sysClr val="windowText" lastClr="000000"/>
              </a:solidFill>
              <a:sym typeface="Wingdings" pitchFamily="2" charset="2"/>
            </a:endParaRPr>
          </a:p>
          <a:p>
            <a:pPr marL="342900" indent="-342900" algn="just">
              <a:buFont typeface="Arial" panose="020B0604020202020204" pitchFamily="34" charset="0"/>
              <a:buChar char="•"/>
            </a:pPr>
            <a:r>
              <a:rPr lang="en-US" kern="0">
                <a:solidFill>
                  <a:sysClr val="windowText" lastClr="000000"/>
                </a:solidFill>
              </a:rPr>
              <a:t>Run the </a:t>
            </a:r>
            <a:r>
              <a:rPr lang="en-US" kern="0" err="1">
                <a:solidFill>
                  <a:sysClr val="windowText" lastClr="000000"/>
                </a:solidFill>
              </a:rPr>
              <a:t>Jupyter</a:t>
            </a:r>
            <a:r>
              <a:rPr lang="en-US" kern="0">
                <a:solidFill>
                  <a:sysClr val="windowText" lastClr="000000"/>
                </a:solidFill>
              </a:rPr>
              <a:t> Notebook: </a:t>
            </a:r>
          </a:p>
          <a:p>
            <a:pPr marL="800100" lvl="1" indent="-342900" algn="just">
              <a:buFont typeface="Arial" panose="020B0604020202020204" pitchFamily="34" charset="0"/>
              <a:buChar char="•"/>
            </a:pPr>
            <a:r>
              <a:rPr lang="en-US" kern="0">
                <a:solidFill>
                  <a:sysClr val="windowText" lastClr="000000"/>
                </a:solidFill>
              </a:rPr>
              <a:t>CIRCUITS_&amp;_</a:t>
            </a:r>
            <a:r>
              <a:rPr lang="en-US" kern="0" err="1">
                <a:solidFill>
                  <a:sysClr val="windowText" lastClr="000000"/>
                </a:solidFill>
              </a:rPr>
              <a:t>COMPACT_MODELS.ipynb</a:t>
            </a:r>
            <a:r>
              <a:rPr lang="en-US" kern="0">
                <a:solidFill>
                  <a:sysClr val="windowText" lastClr="000000"/>
                </a:solidFill>
              </a:rPr>
              <a:t> </a:t>
            </a:r>
          </a:p>
          <a:p>
            <a:pPr algn="just"/>
            <a:endParaRPr lang="en-US" b="1" i="1"/>
          </a:p>
          <a:p>
            <a:pPr algn="just"/>
            <a:r>
              <a:rPr lang="en-US" b="1" i="1"/>
              <a:t>Devices </a:t>
            </a:r>
            <a:r>
              <a:rPr lang="en-US" i="1"/>
              <a:t>to be studied:</a:t>
            </a:r>
            <a:endParaRPr lang="en-US" b="1" i="1"/>
          </a:p>
          <a:p>
            <a:pPr algn="just"/>
            <a:endParaRPr lang="en-US" sz="2000" b="1" i="1"/>
          </a:p>
          <a:p>
            <a:pPr algn="just"/>
            <a:endParaRPr lang="en-US" sz="2000" kern="0">
              <a:solidFill>
                <a:sysClr val="windowText" lastClr="000000"/>
              </a:solidFill>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8077200" y="5582965"/>
            <a:ext cx="2176237" cy="369332"/>
          </a:xfrm>
          <a:prstGeom prst="rect">
            <a:avLst/>
          </a:prstGeom>
          <a:noFill/>
        </p:spPr>
        <p:txBody>
          <a:bodyPr wrap="none" rtlCol="0">
            <a:spAutoFit/>
          </a:bodyPr>
          <a:lstStyle/>
          <a:p>
            <a:pPr algn="r"/>
            <a:r>
              <a:rPr lang="en-US" b="1"/>
              <a:t>Ring Resonators (RR)</a:t>
            </a:r>
            <a:endParaRPr lang="en-US"/>
          </a:p>
        </p:txBody>
      </p:sp>
      <p:sp>
        <p:nvSpPr>
          <p:cNvPr id="8" name="CuadroTexto 7">
            <a:extLst>
              <a:ext uri="{FF2B5EF4-FFF2-40B4-BE49-F238E27FC236}">
                <a16:creationId xmlns:a16="http://schemas.microsoft.com/office/drawing/2014/main" id="{7336B5D8-2D70-3E7A-336D-AF55EC49DEB8}"/>
              </a:ext>
            </a:extLst>
          </p:cNvPr>
          <p:cNvSpPr txBox="1"/>
          <p:nvPr/>
        </p:nvSpPr>
        <p:spPr>
          <a:xfrm>
            <a:off x="1039582" y="5579058"/>
            <a:ext cx="4176324" cy="369332"/>
          </a:xfrm>
          <a:prstGeom prst="rect">
            <a:avLst/>
          </a:prstGeom>
          <a:noFill/>
        </p:spPr>
        <p:txBody>
          <a:bodyPr wrap="square">
            <a:spAutoFit/>
          </a:bodyPr>
          <a:lstStyle/>
          <a:p>
            <a:pPr algn="ctr"/>
            <a:r>
              <a:rPr lang="en-US" b="1"/>
              <a:t>Mach-Zehnder Interferometer (MZI)</a:t>
            </a:r>
            <a:endParaRPr lang="en-US"/>
          </a:p>
        </p:txBody>
      </p:sp>
      <p:pic>
        <p:nvPicPr>
          <p:cNvPr id="6" name="Imagen 5" descr="Forma, Rectángulo&#10;&#10;El contenido generado por IA puede ser incorrecto.">
            <a:extLst>
              <a:ext uri="{FF2B5EF4-FFF2-40B4-BE49-F238E27FC236}">
                <a16:creationId xmlns:a16="http://schemas.microsoft.com/office/drawing/2014/main" id="{91C2AB39-AF40-7700-840D-38F2C1813CB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7428" y="3996612"/>
            <a:ext cx="5240632" cy="1246789"/>
          </a:xfrm>
          <a:prstGeom prst="rect">
            <a:avLst/>
          </a:prstGeom>
        </p:spPr>
      </p:pic>
      <p:pic>
        <p:nvPicPr>
          <p:cNvPr id="14" name="Imagen 13" descr="Imagen que contiene Forma&#10;&#10;El contenido generado por IA puede ser incorrecto.">
            <a:extLst>
              <a:ext uri="{FF2B5EF4-FFF2-40B4-BE49-F238E27FC236}">
                <a16:creationId xmlns:a16="http://schemas.microsoft.com/office/drawing/2014/main" id="{43CD26B4-EB7C-61CA-1BCF-B2AD5F6ED004}"/>
              </a:ext>
            </a:extLst>
          </p:cNvPr>
          <p:cNvPicPr>
            <a:picLocks noChangeAspect="1"/>
          </p:cNvPicPr>
          <p:nvPr/>
        </p:nvPicPr>
        <p:blipFill>
          <a:blip r:embed="rId4" cstate="print">
            <a:extLst>
              <a:ext uri="{28A0092B-C50C-407E-A947-70E740481C1C}">
                <a14:useLocalDpi xmlns:a14="http://schemas.microsoft.com/office/drawing/2010/main" val="0"/>
              </a:ext>
            </a:extLst>
          </a:blip>
          <a:srcRect r="68044"/>
          <a:stretch>
            <a:fillRect/>
          </a:stretch>
        </p:blipFill>
        <p:spPr>
          <a:xfrm>
            <a:off x="6624590" y="3638327"/>
            <a:ext cx="2402774" cy="1900395"/>
          </a:xfrm>
          <a:prstGeom prst="rect">
            <a:avLst/>
          </a:prstGeom>
        </p:spPr>
      </p:pic>
      <p:pic>
        <p:nvPicPr>
          <p:cNvPr id="15" name="Imagen 14" descr="Imagen que contiene Forma&#10;&#10;El contenido generado por IA puede ser incorrecto.">
            <a:extLst>
              <a:ext uri="{FF2B5EF4-FFF2-40B4-BE49-F238E27FC236}">
                <a16:creationId xmlns:a16="http://schemas.microsoft.com/office/drawing/2014/main" id="{B296E22E-7EA4-0FD2-7B98-F6CB5BB97AB9}"/>
              </a:ext>
            </a:extLst>
          </p:cNvPr>
          <p:cNvPicPr>
            <a:picLocks noChangeAspect="1"/>
          </p:cNvPicPr>
          <p:nvPr/>
        </p:nvPicPr>
        <p:blipFill>
          <a:blip r:embed="rId4" cstate="print">
            <a:extLst>
              <a:ext uri="{28A0092B-C50C-407E-A947-70E740481C1C}">
                <a14:useLocalDpi xmlns:a14="http://schemas.microsoft.com/office/drawing/2010/main" val="0"/>
              </a:ext>
            </a:extLst>
          </a:blip>
          <a:srcRect l="67258" r="786"/>
          <a:stretch>
            <a:fillRect/>
          </a:stretch>
        </p:blipFill>
        <p:spPr>
          <a:xfrm>
            <a:off x="9354819" y="3650394"/>
            <a:ext cx="2402774" cy="1900395"/>
          </a:xfrm>
          <a:prstGeom prst="rect">
            <a:avLst/>
          </a:prstGeom>
        </p:spPr>
      </p:pic>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228A8A28-0D43-C564-7B6A-20F75755616A}"/>
              </a:ext>
            </a:extLst>
          </p:cNvPr>
          <p:cNvSpPr/>
          <p:nvPr/>
        </p:nvSpPr>
        <p:spPr>
          <a:xfrm>
            <a:off x="6476400" y="141837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#1a – Perfectly balanced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3.0. CIRCUITS &amp; COMPACT MODELS</a:t>
            </a:r>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629399" y="1556991"/>
            <a:ext cx="5050811" cy="2895600"/>
          </a:xfrm>
          <a:prstGeom prst="rect">
            <a:avLst/>
          </a:prstGeom>
        </p:spPr>
        <p:txBody>
          <a:bodyPr lIns="91440" tIns="45720" rIns="91440" bIns="45720" anchor="t">
            <a:normAutofit lnSpcReduction="10000"/>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the Compact Models and Circuit Model</a:t>
            </a:r>
          </a:p>
          <a:p>
            <a:pPr marL="342900" indent="-342900" algn="just">
              <a:buFont typeface="Arial" panose="020B0604020202020204" pitchFamily="34" charset="0"/>
              <a:buChar char="•"/>
            </a:pPr>
            <a:r>
              <a:rPr lang="en-US" sz="2000" dirty="0"/>
              <a:t>Describe how to </a:t>
            </a:r>
            <a:r>
              <a:rPr lang="es-ES" sz="2000" dirty="0" err="1"/>
              <a:t>simulate</a:t>
            </a:r>
            <a:r>
              <a:rPr lang="es-ES" sz="2000" dirty="0"/>
              <a:t> </a:t>
            </a:r>
            <a:r>
              <a:rPr lang="es-ES" sz="2000" dirty="0" err="1"/>
              <a:t>using</a:t>
            </a:r>
            <a:r>
              <a:rPr lang="es-ES" sz="2000" dirty="0"/>
              <a:t> SAX </a:t>
            </a:r>
            <a:r>
              <a:rPr lang="es-ES" sz="2000" dirty="0" err="1"/>
              <a:t>library</a:t>
            </a:r>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b="1" dirty="0"/>
              <a:t>ALL EXAMPLE #1: </a:t>
            </a:r>
          </a:p>
          <a:p>
            <a:pPr marL="0" indent="0" algn="just">
              <a:buNone/>
            </a:pPr>
            <a:r>
              <a:rPr lang="en-US" dirty="0" err="1"/>
              <a:t>wvl</a:t>
            </a:r>
            <a:r>
              <a:rPr lang="en-US" dirty="0"/>
              <a:t> [1500-1600] step 0.001</a:t>
            </a:r>
          </a:p>
          <a:p>
            <a:pPr marL="0" indent="0" algn="just">
              <a:buNone/>
            </a:pPr>
            <a:r>
              <a:rPr lang="en-US" dirty="0"/>
              <a:t>dL = 0</a:t>
            </a:r>
          </a:p>
          <a:p>
            <a:pPr marL="0" indent="0" algn="just">
              <a:buNone/>
            </a:pPr>
            <a:r>
              <a:rPr lang="en-US" dirty="0"/>
              <a:t>Kin = Kout = 0.5 for all </a:t>
            </a:r>
            <a:r>
              <a:rPr lang="en-US" dirty="0" err="1"/>
              <a:t>wvl</a:t>
            </a:r>
            <a:endParaRPr lang="en-US" dirty="0"/>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646331"/>
          </a:xfrm>
          <a:prstGeom prst="rect">
            <a:avLst/>
          </a:prstGeom>
          <a:solidFill>
            <a:schemeClr val="bg1">
              <a:lumMod val="95000"/>
            </a:schemeClr>
          </a:solidFill>
          <a:ln w="28575">
            <a:solidFill>
              <a:srgbClr val="E0700D"/>
            </a:solidFill>
          </a:ln>
        </p:spPr>
        <p:txBody>
          <a:bodyPr wrap="square" lIns="91440" tIns="45720" rIns="91440" bIns="45720" rtlCol="0" anchor="t">
            <a:spAutoFit/>
          </a:bodyPr>
          <a:lstStyle/>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del MZI es plana, </a:t>
            </a:r>
            <a:r>
              <a:rPr lang="en-US" sz="1200" dirty="0" err="1">
                <a:latin typeface="Arial" panose="020B0604020202020204" pitchFamily="34" charset="0"/>
                <a:cs typeface="Arial" panose="020B0604020202020204" pitchFamily="34" charset="0"/>
              </a:rPr>
              <a:t>exactamente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esperaba</a:t>
            </a:r>
            <a:r>
              <a:rPr lang="en-US" sz="1200" dirty="0">
                <a:latin typeface="Arial" panose="020B0604020202020204" pitchFamily="34" charset="0"/>
                <a:cs typeface="Arial" panose="020B0604020202020204" pitchFamily="34" charset="0"/>
              </a:rPr>
              <a:t> dado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de caminos es </a:t>
            </a:r>
            <a:r>
              <a:rPr lang="en-US" sz="1200" dirty="0" err="1">
                <a:latin typeface="Arial" panose="020B0604020202020204" pitchFamily="34" charset="0"/>
                <a:cs typeface="Arial" panose="020B0604020202020204" pitchFamily="34" charset="0"/>
              </a:rPr>
              <a:t>nula</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tanto, no hay </a:t>
            </a:r>
            <a:r>
              <a:rPr lang="en-US" sz="1200" dirty="0" err="1">
                <a:latin typeface="Arial" panose="020B0604020202020204" pitchFamily="34" charset="0"/>
                <a:cs typeface="Arial" panose="020B0604020202020204" pitchFamily="34" charset="0"/>
              </a:rPr>
              <a:t>dependencia</a:t>
            </a:r>
            <a:r>
              <a:rPr lang="en-US" sz="1200" dirty="0">
                <a:latin typeface="Arial" panose="020B0604020202020204" pitchFamily="34" charset="0"/>
                <a:cs typeface="Arial" panose="020B0604020202020204" pitchFamily="34" charset="0"/>
              </a:rPr>
              <a:t> con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apreciar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in0 sale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out1,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tanto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acoplador</a:t>
            </a:r>
            <a:r>
              <a:rPr lang="en-US" sz="1200" dirty="0">
                <a:latin typeface="Arial" panose="020B0604020202020204" pitchFamily="34" charset="0"/>
                <a:cs typeface="Arial" panose="020B0604020202020204" pitchFamily="34" charset="0"/>
              </a:rPr>
              <a:t> de la entrada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aportan</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desfase</a:t>
            </a:r>
            <a:r>
              <a:rPr lang="en-US" sz="1200" dirty="0">
                <a:latin typeface="Arial" panose="020B0604020202020204" pitchFamily="34" charset="0"/>
                <a:cs typeface="Arial" panose="020B0604020202020204" pitchFamily="34" charset="0"/>
              </a:rPr>
              <a:t> de pi/2, </a:t>
            </a:r>
            <a:r>
              <a:rPr lang="en-US" sz="1200" dirty="0" err="1">
                <a:latin typeface="Arial" panose="020B0604020202020204" pitchFamily="34" charset="0"/>
                <a:cs typeface="Arial" panose="020B0604020202020204" pitchFamily="34" charset="0"/>
              </a:rPr>
              <a:t>siendo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resultado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transmisión</a:t>
            </a:r>
            <a:r>
              <a:rPr lang="en-US" sz="1200" dirty="0">
                <a:latin typeface="Arial" panose="020B0604020202020204" pitchFamily="34" charset="0"/>
                <a:cs typeface="Arial" panose="020B0604020202020204" pitchFamily="34" charset="0"/>
              </a:rPr>
              <a:t> total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Puerto </a:t>
            </a:r>
            <a:r>
              <a:rPr lang="en-US" sz="1200" dirty="0" err="1">
                <a:latin typeface="Arial" panose="020B0604020202020204" pitchFamily="34" charset="0"/>
                <a:cs typeface="Arial" panose="020B0604020202020204" pitchFamily="34" charset="0"/>
              </a:rPr>
              <a:t>contrario</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transmite</a:t>
            </a:r>
            <a:r>
              <a:rPr lang="en-US" sz="1200" dirty="0">
                <a:latin typeface="Arial" panose="020B0604020202020204" pitchFamily="34" charset="0"/>
                <a:cs typeface="Arial" panose="020B0604020202020204" pitchFamily="34" charset="0"/>
              </a:rPr>
              <a:t>.  </a:t>
            </a:r>
          </a:p>
        </p:txBody>
      </p:sp>
      <p:sp>
        <p:nvSpPr>
          <p:cNvPr id="6" name="Rectángulo 5">
            <a:extLst>
              <a:ext uri="{FF2B5EF4-FFF2-40B4-BE49-F238E27FC236}">
                <a16:creationId xmlns:a16="http://schemas.microsoft.com/office/drawing/2014/main" id="{82AE4A84-532D-D50D-F368-79FF1C11E97A}"/>
              </a:ext>
            </a:extLst>
          </p:cNvPr>
          <p:cNvSpPr/>
          <p:nvPr/>
        </p:nvSpPr>
        <p:spPr>
          <a:xfrm>
            <a:off x="630317" y="1418373"/>
            <a:ext cx="570835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024B9AF7-5B09-CE7C-68D9-8620B8F4F607}"/>
              </a:ext>
            </a:extLst>
          </p:cNvPr>
          <p:cNvSpPr txBox="1"/>
          <p:nvPr/>
        </p:nvSpPr>
        <p:spPr>
          <a:xfrm>
            <a:off x="1690195" y="249430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12" name="Imagen 11">
            <a:extLst>
              <a:ext uri="{FF2B5EF4-FFF2-40B4-BE49-F238E27FC236}">
                <a16:creationId xmlns:a16="http://schemas.microsoft.com/office/drawing/2014/main" id="{68E3F90D-70EA-F36A-81D2-5F1B7CE694DA}"/>
              </a:ext>
            </a:extLst>
          </p:cNvPr>
          <p:cNvPicPr>
            <a:picLocks noChangeAspect="1"/>
          </p:cNvPicPr>
          <p:nvPr/>
        </p:nvPicPr>
        <p:blipFill>
          <a:blip r:embed="rId4"/>
          <a:stretch>
            <a:fillRect/>
          </a:stretch>
        </p:blipFill>
        <p:spPr>
          <a:xfrm>
            <a:off x="732086" y="1486899"/>
            <a:ext cx="5455031" cy="3056515"/>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5EA17-A19F-F6ED-E241-A2268CBA45D6}"/>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DA69D816-535A-F5EE-E106-BA148A1B2DF6}"/>
              </a:ext>
            </a:extLst>
          </p:cNvPr>
          <p:cNvSpPr/>
          <p:nvPr/>
        </p:nvSpPr>
        <p:spPr>
          <a:xfrm>
            <a:off x="6476400" y="141837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a:p>
            <a:pPr algn="just"/>
            <a:endParaRPr lang="en-US" sz="1600">
              <a:solidFill>
                <a:schemeClr val="tx1"/>
              </a:solidFill>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D79563BA-3258-C655-D121-E2E23B61FDB5}"/>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#1b – Unbalanced MZI</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08B251FE-4B29-D52F-1DB1-9E5BBD8CFF5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3FA43D9-CFE1-F872-DD44-E04BB1B18DFD}"/>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06710B9A-16F8-7A75-9BC8-FE3189874FB8}"/>
              </a:ext>
            </a:extLst>
          </p:cNvPr>
          <p:cNvSpPr>
            <a:spLocks noGrp="1"/>
          </p:cNvSpPr>
          <p:nvPr>
            <p:ph type="ftr" sz="quarter" idx="5"/>
          </p:nvPr>
        </p:nvSpPr>
        <p:spPr/>
        <p:txBody>
          <a:bodyPr/>
          <a:lstStyle/>
          <a:p>
            <a:pPr marL="12700">
              <a:spcBef>
                <a:spcPts val="15"/>
              </a:spcBef>
            </a:pPr>
            <a:r>
              <a:rPr lang="en-US" spc="-5"/>
              <a:t>LAB 3.0. CIRCUITS &amp; COMPACT MODELS</a:t>
            </a:r>
            <a:endParaRPr lang="es-ES" spc="-5"/>
          </a:p>
        </p:txBody>
      </p:sp>
      <p:sp>
        <p:nvSpPr>
          <p:cNvPr id="4" name="Marcador de texto 2">
            <a:extLst>
              <a:ext uri="{FF2B5EF4-FFF2-40B4-BE49-F238E27FC236}">
                <a16:creationId xmlns:a16="http://schemas.microsoft.com/office/drawing/2014/main" id="{0E86A2CB-D14B-54A7-9376-DAE1E4FF0284}"/>
              </a:ext>
            </a:extLst>
          </p:cNvPr>
          <p:cNvSpPr txBox="1">
            <a:spLocks/>
          </p:cNvSpPr>
          <p:nvPr/>
        </p:nvSpPr>
        <p:spPr>
          <a:xfrm>
            <a:off x="6629399" y="1556991"/>
            <a:ext cx="5050811" cy="2895600"/>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s-ES" b="1" dirty="0"/>
              <a:t>HINTS</a:t>
            </a:r>
            <a:r>
              <a:rPr lang="en-US" b="1" dirty="0"/>
              <a:t>: </a:t>
            </a:r>
          </a:p>
          <a:p>
            <a:pPr marL="0" indent="0" algn="just">
              <a:buNone/>
            </a:pPr>
            <a:r>
              <a:rPr lang="en-US" dirty="0" err="1"/>
              <a:t>wvl</a:t>
            </a:r>
            <a:r>
              <a:rPr lang="en-US" dirty="0"/>
              <a:t> [1500-1600] step 0.001</a:t>
            </a:r>
          </a:p>
          <a:p>
            <a:pPr algn="just"/>
            <a:r>
              <a:rPr lang="en-US" dirty="0"/>
              <a:t>dL = </a:t>
            </a:r>
            <a:r>
              <a:rPr lang="en-US" dirty="0">
                <a:latin typeface="Arial" panose="020B0604020202020204" pitchFamily="34" charset="0"/>
                <a:cs typeface="Arial" panose="020B0604020202020204" pitchFamily="34" charset="0"/>
                <a:sym typeface="Wingdings" pitchFamily="2" charset="2"/>
              </a:rPr>
              <a:t>100 µm</a:t>
            </a:r>
            <a:endParaRPr lang="en-US" dirty="0"/>
          </a:p>
          <a:p>
            <a:pPr marL="0" indent="0" algn="just">
              <a:buNone/>
            </a:pPr>
            <a:r>
              <a:rPr lang="en-US" dirty="0"/>
              <a:t>Kin = Kout = 0.5 for all </a:t>
            </a:r>
            <a:r>
              <a:rPr lang="en-US" dirty="0" err="1"/>
              <a:t>wvl</a:t>
            </a:r>
            <a:endParaRPr lang="en-US" dirty="0"/>
          </a:p>
          <a:p>
            <a:pPr algn="just"/>
            <a:endParaRPr lang="en-US" sz="2000" b="1" i="1" dirty="0"/>
          </a:p>
          <a:p>
            <a:pPr algn="just"/>
            <a:endParaRPr lang="en-US" sz="2000" kern="0" dirty="0">
              <a:solidFill>
                <a:sysClr val="windowText" lastClr="000000"/>
              </a:solidFill>
            </a:endParaRP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50C41089-061E-9B39-3904-6F31AFE073B8}"/>
                  </a:ext>
                </a:extLst>
              </p:cNvPr>
              <p:cNvSpPr txBox="1"/>
              <p:nvPr/>
            </p:nvSpPr>
            <p:spPr>
              <a:xfrm>
                <a:off x="609441" y="4860334"/>
                <a:ext cx="11199971" cy="949362"/>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sí</a:t>
                </a:r>
                <a:r>
                  <a:rPr lang="en-US" sz="1200" dirty="0">
                    <a:latin typeface="Arial" panose="020B0604020202020204" pitchFamily="34" charset="0"/>
                    <a:cs typeface="Arial" panose="020B0604020202020204" pitchFamily="34" charset="0"/>
                  </a:rPr>
                  <a:t> hay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de caminos de 100um y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desbalanceado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periódica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depende</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La </a:t>
                </a:r>
                <a14:m>
                  <m:oMath xmlns:m="http://schemas.openxmlformats.org/officeDocument/2006/math">
                    <m:r>
                      <a:rPr lang="es-ES" sz="1200" b="0" i="1" smtClean="0">
                        <a:latin typeface="Cambria Math" panose="02040503050406030204" pitchFamily="18" charset="0"/>
                        <a:cs typeface="Arial" panose="020B0604020202020204" pitchFamily="34" charset="0"/>
                      </a:rPr>
                      <m:t>𝐹𝑆𝑅</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1.55</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2·100</m:t>
                        </m:r>
                      </m:den>
                    </m:f>
                    <m:r>
                      <a:rPr lang="es-ES" sz="1200" b="0" i="1" smtClean="0">
                        <a:latin typeface="Cambria Math" panose="02040503050406030204" pitchFamily="18" charset="0"/>
                        <a:cs typeface="Arial" panose="020B0604020202020204" pitchFamily="34" charset="0"/>
                      </a:rPr>
                      <m:t>=12.01 </m:t>
                    </m:r>
                    <m:r>
                      <a:rPr lang="es-ES" sz="1200" b="0" i="1" smtClean="0">
                        <a:latin typeface="Cambria Math" panose="02040503050406030204" pitchFamily="18" charset="0"/>
                        <a:cs typeface="Arial" panose="020B0604020202020204" pitchFamily="34" charset="0"/>
                      </a:rPr>
                      <m:t>𝑛𝑚</m:t>
                    </m:r>
                  </m:oMath>
                </a14:m>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comprobar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visualmente</a:t>
                </a:r>
                <a:r>
                  <a:rPr lang="en-US" sz="1200" dirty="0">
                    <a:latin typeface="Arial" panose="020B0604020202020204" pitchFamily="34" charset="0"/>
                    <a:cs typeface="Arial" panose="020B0604020202020204" pitchFamily="34" charset="0"/>
                  </a:rPr>
                  <a:t> con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máximos</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gráfica</a:t>
                </a:r>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50C41089-061E-9B39-3904-6F31AFE073B8}"/>
                  </a:ext>
                </a:extLst>
              </p:cNvPr>
              <p:cNvSpPr txBox="1">
                <a:spLocks noRot="1" noChangeAspect="1" noMove="1" noResize="1" noEditPoints="1" noAdjustHandles="1" noChangeArrowheads="1" noChangeShapeType="1" noTextEdit="1"/>
              </p:cNvSpPr>
              <p:nvPr/>
            </p:nvSpPr>
            <p:spPr>
              <a:xfrm>
                <a:off x="609441" y="4860334"/>
                <a:ext cx="11199971" cy="949362"/>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6" name="Rectángulo 5">
            <a:extLst>
              <a:ext uri="{FF2B5EF4-FFF2-40B4-BE49-F238E27FC236}">
                <a16:creationId xmlns:a16="http://schemas.microsoft.com/office/drawing/2014/main" id="{F95B976F-6522-EA3D-1323-5C97E9F88EDF}"/>
              </a:ext>
            </a:extLst>
          </p:cNvPr>
          <p:cNvSpPr/>
          <p:nvPr/>
        </p:nvSpPr>
        <p:spPr>
          <a:xfrm>
            <a:off x="619879" y="1418373"/>
            <a:ext cx="5729228"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8934523B-51D9-2926-EAC0-7EAD4D1D5B75}"/>
              </a:ext>
            </a:extLst>
          </p:cNvPr>
          <p:cNvSpPr txBox="1"/>
          <p:nvPr/>
        </p:nvSpPr>
        <p:spPr>
          <a:xfrm>
            <a:off x="1690195" y="249430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11" name="Imagen 10">
            <a:extLst>
              <a:ext uri="{FF2B5EF4-FFF2-40B4-BE49-F238E27FC236}">
                <a16:creationId xmlns:a16="http://schemas.microsoft.com/office/drawing/2014/main" id="{D835D5C7-A60C-A405-9502-4932CEED74F0}"/>
              </a:ext>
            </a:extLst>
          </p:cNvPr>
          <p:cNvPicPr>
            <a:picLocks noChangeAspect="1"/>
          </p:cNvPicPr>
          <p:nvPr/>
        </p:nvPicPr>
        <p:blipFill>
          <a:blip r:embed="rId5"/>
          <a:stretch>
            <a:fillRect/>
          </a:stretch>
        </p:blipFill>
        <p:spPr>
          <a:xfrm>
            <a:off x="720442" y="1444669"/>
            <a:ext cx="5531939" cy="3196226"/>
          </a:xfrm>
          <a:prstGeom prst="rect">
            <a:avLst/>
          </a:prstGeom>
        </p:spPr>
      </p:pic>
    </p:spTree>
    <p:extLst>
      <p:ext uri="{BB962C8B-B14F-4D97-AF65-F5344CB8AC3E}">
        <p14:creationId xmlns:p14="http://schemas.microsoft.com/office/powerpoint/2010/main" val="2395180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5</a:t>
            </a:fld>
            <a:endParaRPr lang="en-US"/>
          </a:p>
        </p:txBody>
      </p:sp>
      <p:sp>
        <p:nvSpPr>
          <p:cNvPr id="8" name="CuadroTexto 7">
            <a:extLst>
              <a:ext uri="{FF2B5EF4-FFF2-40B4-BE49-F238E27FC236}">
                <a16:creationId xmlns:a16="http://schemas.microsoft.com/office/drawing/2014/main" id="{D9601617-351E-AE1A-1F4D-693F2EA59361}"/>
              </a:ext>
            </a:extLst>
          </p:cNvPr>
          <p:cNvSpPr txBox="1"/>
          <p:nvPr/>
        </p:nvSpPr>
        <p:spPr>
          <a:xfrm>
            <a:off x="611029" y="4860335"/>
            <a:ext cx="11199530"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al </a:t>
            </a:r>
            <a:r>
              <a:rPr lang="en-US" sz="1200" dirty="0" err="1">
                <a:latin typeface="Arial" panose="020B0604020202020204" pitchFamily="34" charset="0"/>
                <a:cs typeface="Arial" panose="020B0604020202020204" pitchFamily="34" charset="0"/>
              </a:rPr>
              <a:t>tener</a:t>
            </a:r>
            <a:r>
              <a:rPr lang="en-US" sz="1200" dirty="0">
                <a:latin typeface="Arial" panose="020B0604020202020204" pitchFamily="34" charset="0"/>
                <a:cs typeface="Arial" panose="020B0604020202020204" pitchFamily="34" charset="0"/>
              </a:rPr>
              <a:t> un FSR tan </a:t>
            </a:r>
            <a:r>
              <a:rPr lang="en-US" sz="1200" dirty="0" err="1">
                <a:latin typeface="Arial" panose="020B0604020202020204" pitchFamily="34" charset="0"/>
                <a:cs typeface="Arial" panose="020B0604020202020204" pitchFamily="34" charset="0"/>
              </a:rPr>
              <a:t>pequeño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interferencia</a:t>
            </a:r>
            <a:r>
              <a:rPr lang="en-US" sz="1200" dirty="0">
                <a:latin typeface="Arial" panose="020B0604020202020204" pitchFamily="34" charset="0"/>
                <a:cs typeface="Arial" panose="020B0604020202020204" pitchFamily="34" charset="0"/>
              </a:rPr>
              <a:t> cambia </a:t>
            </a:r>
            <a:r>
              <a:rPr lang="en-US" sz="1200" dirty="0" err="1">
                <a:latin typeface="Arial" panose="020B0604020202020204" pitchFamily="34" charset="0"/>
                <a:cs typeface="Arial" panose="020B0604020202020204" pitchFamily="34" charset="0"/>
              </a:rPr>
              <a:t>rápidamente</a:t>
            </a:r>
            <a:r>
              <a:rPr lang="en-US" sz="1200" dirty="0">
                <a:latin typeface="Arial" panose="020B0604020202020204" pitchFamily="34" charset="0"/>
                <a:cs typeface="Arial" panose="020B0604020202020204" pitchFamily="34" charset="0"/>
              </a:rPr>
              <a:t> con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aumentando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sensibilidad</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espectral</a:t>
            </a:r>
            <a:r>
              <a:rPr lang="en-US" sz="1200" dirty="0">
                <a:latin typeface="Arial" panose="020B0604020202020204" pitchFamily="34" charset="0"/>
                <a:cs typeface="Arial" panose="020B0604020202020204" pitchFamily="34" charset="0"/>
              </a:rPr>
              <a:t> y la </a:t>
            </a:r>
            <a:r>
              <a:rPr lang="en-US" sz="1200" dirty="0" err="1">
                <a:latin typeface="Arial" panose="020B0604020202020204" pitchFamily="34" charset="0"/>
                <a:cs typeface="Arial" panose="020B0604020202020204" pitchFamily="34" charset="0"/>
              </a:rPr>
              <a:t>resolución</a:t>
            </a:r>
            <a:r>
              <a:rPr lang="en-US" sz="1200" dirty="0">
                <a:latin typeface="Arial" panose="020B0604020202020204" pitchFamily="34" charset="0"/>
                <a:cs typeface="Arial" panose="020B0604020202020204" pitchFamily="34" charset="0"/>
              </a:rPr>
              <a:t>. Un MZI con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resolución</a:t>
            </a:r>
            <a:r>
              <a:rPr lang="en-US" sz="1200" dirty="0">
                <a:latin typeface="Arial" panose="020B0604020202020204" pitchFamily="34" charset="0"/>
                <a:cs typeface="Arial" panose="020B0604020202020204" pitchFamily="34" charset="0"/>
              </a:rPr>
              <a:t> tan </a:t>
            </a:r>
            <a:r>
              <a:rPr lang="en-US" sz="1200" dirty="0" err="1">
                <a:latin typeface="Arial" panose="020B0604020202020204" pitchFamily="34" charset="0"/>
                <a:cs typeface="Arial" panose="020B0604020202020204" pitchFamily="34" charset="0"/>
              </a:rPr>
              <a:t>pequeña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permite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diseñar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filtros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periódicos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pueden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manejar</a:t>
            </a:r>
            <a:r>
              <a:rPr lang="en-US" sz="1200" dirty="0">
                <a:latin typeface="Arial" panose="020B0604020202020204" pitchFamily="34" charset="0"/>
                <a:cs typeface="Arial" panose="020B0604020202020204" pitchFamily="34" charset="0"/>
              </a:rPr>
              <a:t> multiples canales </a:t>
            </a:r>
            <a:r>
              <a:rPr lang="en-US" sz="1200" dirty="0" err="1">
                <a:latin typeface="Arial" panose="020B0604020202020204" pitchFamily="34" charset="0"/>
                <a:cs typeface="Arial" panose="020B0604020202020204" pitchFamily="34" charset="0"/>
              </a:rPr>
              <a:t>dentro</a:t>
            </a:r>
            <a:r>
              <a:rPr lang="en-US" sz="1200" dirty="0">
                <a:latin typeface="Arial" panose="020B0604020202020204" pitchFamily="34" charset="0"/>
                <a:cs typeface="Arial" panose="020B0604020202020204" pitchFamily="34" charset="0"/>
              </a:rPr>
              <a:t> de un </a:t>
            </a:r>
            <a:r>
              <a:rPr lang="en-US" sz="1200" dirty="0" err="1">
                <a:latin typeface="Arial" panose="020B0604020202020204" pitchFamily="34" charset="0"/>
                <a:cs typeface="Arial" panose="020B0604020202020204" pitchFamily="34" charset="0"/>
              </a:rPr>
              <a:t>mismo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periodo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espectral</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11" name="Rectángulo 10">
            <a:extLst>
              <a:ext uri="{FF2B5EF4-FFF2-40B4-BE49-F238E27FC236}">
                <a16:creationId xmlns:a16="http://schemas.microsoft.com/office/drawing/2014/main" id="{B811A5F9-C0B5-716C-70FB-9472E1BC2CD3}"/>
              </a:ext>
            </a:extLst>
          </p:cNvPr>
          <p:cNvSpPr/>
          <p:nvPr/>
        </p:nvSpPr>
        <p:spPr>
          <a:xfrm>
            <a:off x="611030" y="1418373"/>
            <a:ext cx="38100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adroTexto 11">
            <a:extLst>
              <a:ext uri="{FF2B5EF4-FFF2-40B4-BE49-F238E27FC236}">
                <a16:creationId xmlns:a16="http://schemas.microsoft.com/office/drawing/2014/main" id="{1D17C364-5A66-F740-B152-8B41A2A4EF26}"/>
              </a:ext>
            </a:extLst>
          </p:cNvPr>
          <p:cNvSpPr txBox="1"/>
          <p:nvPr/>
        </p:nvSpPr>
        <p:spPr>
          <a:xfrm>
            <a:off x="5305711" y="2494307"/>
            <a:ext cx="2494977" cy="1015663"/>
          </a:xfrm>
          <a:prstGeom prst="rect">
            <a:avLst/>
          </a:prstGeom>
          <a:noFill/>
        </p:spPr>
        <p:txBody>
          <a:bodyPr wrap="none" rtlCol="0">
            <a:spAutoFit/>
          </a:bodyPr>
          <a:lstStyle/>
          <a:p>
            <a:pPr algn="ctr"/>
            <a:r>
              <a:rPr lang="es-ES" sz="2000"/>
              <a:t>MZI transfer </a:t>
            </a:r>
            <a:r>
              <a:rPr lang="es-ES" sz="2000" err="1"/>
              <a:t>functions</a:t>
            </a:r>
            <a:endParaRPr lang="en-US" sz="2000"/>
          </a:p>
          <a:p>
            <a:pPr algn="ctr"/>
            <a:endParaRPr lang="en-US" sz="2000"/>
          </a:p>
          <a:p>
            <a:pPr algn="ctr"/>
            <a:r>
              <a:rPr lang="en-US" sz="2000"/>
              <a:t>Paste plot here</a:t>
            </a:r>
          </a:p>
        </p:txBody>
      </p:sp>
      <p:sp>
        <p:nvSpPr>
          <p:cNvPr id="3" name="Rectángulo 2">
            <a:extLst>
              <a:ext uri="{FF2B5EF4-FFF2-40B4-BE49-F238E27FC236}">
                <a16:creationId xmlns:a16="http://schemas.microsoft.com/office/drawing/2014/main" id="{5FB43DF1-4048-35BF-BD58-4BF2A341D2EF}"/>
              </a:ext>
            </a:extLst>
          </p:cNvPr>
          <p:cNvSpPr/>
          <p:nvPr/>
        </p:nvSpPr>
        <p:spPr>
          <a:xfrm>
            <a:off x="8662792" y="1428811"/>
            <a:ext cx="3147768" cy="3295590"/>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b="1" dirty="0">
                <a:solidFill>
                  <a:schemeClr val="tx1"/>
                </a:solidFill>
                <a:latin typeface="Arial" panose="020B0604020202020204" pitchFamily="34" charset="0"/>
                <a:cs typeface="Arial" panose="020B0604020202020204" pitchFamily="34" charset="0"/>
              </a:rPr>
              <a:t>Hints:</a:t>
            </a:r>
            <a:endParaRPr lang="en-US" dirty="0">
              <a:solidFill>
                <a:schemeClr val="tx1"/>
              </a:solidFill>
              <a:latin typeface="Arial" panose="020B0604020202020204" pitchFamily="34" charset="0"/>
              <a:cs typeface="Arial" panose="020B0604020202020204" pitchFamily="34" charset="0"/>
            </a:endParaRPr>
          </a:p>
          <a:p>
            <a:pPr algn="just"/>
            <a:r>
              <a:rPr lang="en-US" dirty="0" err="1">
                <a:solidFill>
                  <a:schemeClr val="tx1"/>
                </a:solidFill>
                <a:latin typeface="Arial" panose="020B0604020202020204" pitchFamily="34" charset="0"/>
                <a:cs typeface="Arial" panose="020B0604020202020204" pitchFamily="34" charset="0"/>
                <a:sym typeface="Wingdings" pitchFamily="2" charset="2"/>
              </a:rPr>
              <a:t>wvl</a:t>
            </a:r>
            <a:r>
              <a:rPr lang="en-US" dirty="0">
                <a:solidFill>
                  <a:schemeClr val="tx1"/>
                </a:solidFill>
                <a:latin typeface="Arial" panose="020B0604020202020204" pitchFamily="34" charset="0"/>
                <a:cs typeface="Arial" panose="020B0604020202020204" pitchFamily="34" charset="0"/>
                <a:sym typeface="Wingdings" pitchFamily="2" charset="2"/>
              </a:rPr>
              <a:t> [1500-1600] step 0.001</a:t>
            </a:r>
          </a:p>
          <a:p>
            <a:pPr algn="just"/>
            <a:r>
              <a:rPr lang="en-US" dirty="0">
                <a:solidFill>
                  <a:schemeClr val="tx1"/>
                </a:solidFill>
                <a:latin typeface="Arial" panose="020B0604020202020204" pitchFamily="34" charset="0"/>
                <a:cs typeface="Arial" panose="020B0604020202020204" pitchFamily="34" charset="0"/>
                <a:sym typeface="Wingdings" pitchFamily="2" charset="2"/>
              </a:rPr>
              <a:t>dL = ? µm </a:t>
            </a:r>
            <a:r>
              <a:rPr lang="en-US" b="1" dirty="0">
                <a:solidFill>
                  <a:schemeClr val="tx1"/>
                </a:solidFill>
                <a:latin typeface="Arial" panose="020B0604020202020204" pitchFamily="34" charset="0"/>
                <a:cs typeface="Arial" panose="020B0604020202020204" pitchFamily="34" charset="0"/>
                <a:sym typeface="Wingdings" pitchFamily="2" charset="2"/>
              </a:rPr>
              <a:t>calculate for FSR = 2 nm </a:t>
            </a:r>
          </a:p>
          <a:p>
            <a:pPr algn="just"/>
            <a:r>
              <a:rPr lang="en-US" dirty="0">
                <a:solidFill>
                  <a:schemeClr val="tx1"/>
                </a:solidFill>
                <a:latin typeface="Arial" panose="020B0604020202020204" pitchFamily="34" charset="0"/>
                <a:cs typeface="Arial" panose="020B0604020202020204" pitchFamily="34" charset="0"/>
                <a:sym typeface="Wingdings" pitchFamily="2" charset="2"/>
              </a:rPr>
              <a:t>Ka = </a:t>
            </a:r>
            <a:r>
              <a:rPr lang="en-US" dirty="0" err="1">
                <a:solidFill>
                  <a:schemeClr val="tx1"/>
                </a:solidFill>
                <a:latin typeface="Arial" panose="020B0604020202020204" pitchFamily="34" charset="0"/>
                <a:cs typeface="Arial" panose="020B0604020202020204" pitchFamily="34" charset="0"/>
                <a:sym typeface="Wingdings" pitchFamily="2" charset="2"/>
              </a:rPr>
              <a:t>Kb</a:t>
            </a:r>
            <a:r>
              <a:rPr lang="en-US" dirty="0">
                <a:solidFill>
                  <a:schemeClr val="tx1"/>
                </a:solidFill>
                <a:latin typeface="Arial" panose="020B0604020202020204" pitchFamily="34" charset="0"/>
                <a:cs typeface="Arial" panose="020B0604020202020204" pitchFamily="34" charset="0"/>
                <a:sym typeface="Wingdings" pitchFamily="2" charset="2"/>
              </a:rPr>
              <a:t> = 0.5 for all </a:t>
            </a:r>
            <a:r>
              <a:rPr lang="en-US" dirty="0" err="1">
                <a:solidFill>
                  <a:schemeClr val="tx1"/>
                </a:solidFill>
                <a:latin typeface="Arial" panose="020B0604020202020204" pitchFamily="34" charset="0"/>
                <a:cs typeface="Arial" panose="020B0604020202020204" pitchFamily="34" charset="0"/>
                <a:sym typeface="Wingdings" pitchFamily="2" charset="2"/>
              </a:rPr>
              <a:t>wvl</a:t>
            </a:r>
            <a:endParaRPr lang="en-US"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200" dirty="0">
              <a:solidFill>
                <a:schemeClr val="tx1"/>
              </a:solidFill>
              <a:latin typeface="Arial" panose="020B0604020202020204" pitchFamily="34" charset="0"/>
              <a:cs typeface="Arial" panose="020B0604020202020204" pitchFamily="34" charset="0"/>
            </a:endParaRPr>
          </a:p>
          <a:p>
            <a:pPr algn="just"/>
            <a:endParaRPr lang="en-US" sz="1200" dirty="0">
              <a:solidFill>
                <a:schemeClr val="tx1"/>
              </a:solidFill>
              <a:latin typeface="Arial" panose="020B0604020202020204" pitchFamily="34" charset="0"/>
              <a:cs typeface="Arial" panose="020B0604020202020204" pitchFamily="34" charset="0"/>
            </a:endParaRPr>
          </a:p>
        </p:txBody>
      </p:sp>
      <p:sp>
        <p:nvSpPr>
          <p:cNvPr id="14" name="Rectángulo 13">
            <a:extLst>
              <a:ext uri="{FF2B5EF4-FFF2-40B4-BE49-F238E27FC236}">
                <a16:creationId xmlns:a16="http://schemas.microsoft.com/office/drawing/2014/main" id="{6AA857E7-5C39-DCE1-10B5-40300FCF4B26}"/>
              </a:ext>
            </a:extLst>
          </p:cNvPr>
          <p:cNvSpPr/>
          <p:nvPr/>
        </p:nvSpPr>
        <p:spPr>
          <a:xfrm>
            <a:off x="4648200" y="1418373"/>
            <a:ext cx="3810000"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4CF28B4-1346-F41D-2CD8-EA104ABBFB98}"/>
                  </a:ext>
                </a:extLst>
              </p:cNvPr>
              <p:cNvSpPr txBox="1"/>
              <p:nvPr/>
            </p:nvSpPr>
            <p:spPr>
              <a:xfrm>
                <a:off x="1000137" y="2478160"/>
                <a:ext cx="3031792" cy="1633268"/>
              </a:xfrm>
              <a:prstGeom prst="rect">
                <a:avLst/>
              </a:prstGeom>
              <a:noFill/>
            </p:spPr>
            <p:txBody>
              <a:bodyPr wrap="none" rtlCol="0">
                <a:spAutoFit/>
              </a:bodyPr>
              <a:lstStyle/>
              <a:p>
                <a:pPr algn="ctr"/>
                <a:r>
                  <a:rPr lang="en-US" sz="2000" dirty="0"/>
                  <a:t>Your design justification</a:t>
                </a:r>
              </a:p>
              <a:p>
                <a:pPr algn="ctr"/>
                <a:endParaRPr lang="en-US" sz="2000" dirty="0"/>
              </a:p>
              <a:p>
                <a:pPr algn="ctr"/>
                <a:r>
                  <a:rPr lang="en-US" sz="2000" dirty="0"/>
                  <a:t>Write equations / numbers</a:t>
                </a:r>
              </a:p>
              <a:p>
                <a:pPr algn="ct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m:t>
                      </m:r>
                      <m:r>
                        <a:rPr lang="es-ES" sz="2000" b="0" i="1" smtClean="0">
                          <a:latin typeface="Cambria Math" panose="02040503050406030204" pitchFamily="18" charset="0"/>
                          <a:ea typeface="Cambria Math" panose="02040503050406030204" pitchFamily="18" charset="0"/>
                        </a:rPr>
                        <m:t>𝐿</m:t>
                      </m:r>
                      <m:r>
                        <a:rPr lang="es-ES" sz="2000" b="0" i="1" smtClean="0">
                          <a:latin typeface="Cambria Math" panose="02040503050406030204" pitchFamily="18" charset="0"/>
                          <a:ea typeface="Cambria Math" panose="02040503050406030204" pitchFamily="18" charset="0"/>
                        </a:rPr>
                        <m:t>= </m:t>
                      </m:r>
                      <m:f>
                        <m:fPr>
                          <m:ctrlPr>
                            <a:rPr lang="es-ES" sz="2000" b="0" i="1" smtClean="0">
                              <a:latin typeface="Cambria Math" panose="02040503050406030204" pitchFamily="18" charset="0"/>
                              <a:ea typeface="Cambria Math" panose="02040503050406030204" pitchFamily="18" charset="0"/>
                            </a:rPr>
                          </m:ctrlPr>
                        </m:fPr>
                        <m:num>
                          <m:sSup>
                            <m:sSupPr>
                              <m:ctrlPr>
                                <a:rPr lang="es-ES" sz="2000" b="0" i="1" smtClean="0">
                                  <a:latin typeface="Cambria Math" panose="02040503050406030204" pitchFamily="18" charset="0"/>
                                  <a:ea typeface="Cambria Math" panose="02040503050406030204" pitchFamily="18" charset="0"/>
                                </a:rPr>
                              </m:ctrlPr>
                            </m:sSupPr>
                            <m:e>
                              <m:r>
                                <a:rPr lang="es-ES" sz="2000" b="0" i="1" smtClean="0">
                                  <a:latin typeface="Cambria Math" panose="02040503050406030204" pitchFamily="18" charset="0"/>
                                  <a:ea typeface="Cambria Math" panose="02040503050406030204" pitchFamily="18" charset="0"/>
                                </a:rPr>
                                <m:t>1.55</m:t>
                              </m:r>
                            </m:e>
                            <m:sup>
                              <m:r>
                                <a:rPr lang="es-ES" sz="2000" b="0" i="1" smtClean="0">
                                  <a:latin typeface="Cambria Math" panose="02040503050406030204" pitchFamily="18" charset="0"/>
                                  <a:ea typeface="Cambria Math" panose="02040503050406030204" pitchFamily="18" charset="0"/>
                                </a:rPr>
                                <m:t>2</m:t>
                              </m:r>
                            </m:sup>
                          </m:sSup>
                        </m:num>
                        <m:den>
                          <m:r>
                            <a:rPr lang="es-ES" sz="2000" b="0" i="1" smtClean="0">
                              <a:latin typeface="Cambria Math" panose="02040503050406030204" pitchFamily="18" charset="0"/>
                              <a:ea typeface="Cambria Math" panose="02040503050406030204" pitchFamily="18" charset="0"/>
                            </a:rPr>
                            <m:t>2·0.002</m:t>
                          </m:r>
                        </m:den>
                      </m:f>
                      <m:r>
                        <a:rPr lang="es-ES" sz="2000" b="0" i="1" smtClean="0">
                          <a:latin typeface="Cambria Math" panose="02040503050406030204" pitchFamily="18" charset="0"/>
                          <a:ea typeface="Cambria Math" panose="02040503050406030204" pitchFamily="18" charset="0"/>
                        </a:rPr>
                        <m:t>=600</m:t>
                      </m:r>
                      <m:r>
                        <a:rPr lang="es-ES" sz="2000" b="0" i="1" smtClean="0">
                          <a:latin typeface="Cambria Math" panose="02040503050406030204" pitchFamily="18" charset="0"/>
                          <a:ea typeface="Cambria Math" panose="02040503050406030204" pitchFamily="18" charset="0"/>
                        </a:rPr>
                        <m:t>𝑢𝑚</m:t>
                      </m:r>
                    </m:oMath>
                  </m:oMathPara>
                </a14:m>
                <a:endParaRPr lang="en-US" sz="2000" dirty="0"/>
              </a:p>
            </p:txBody>
          </p:sp>
        </mc:Choice>
        <mc:Fallback xmlns="">
          <p:sp>
            <p:nvSpPr>
              <p:cNvPr id="15" name="CuadroTexto 14">
                <a:extLst>
                  <a:ext uri="{FF2B5EF4-FFF2-40B4-BE49-F238E27FC236}">
                    <a16:creationId xmlns:a16="http://schemas.microsoft.com/office/drawing/2014/main" id="{54CF28B4-1346-F41D-2CD8-EA104ABBFB98}"/>
                  </a:ext>
                </a:extLst>
              </p:cNvPr>
              <p:cNvSpPr txBox="1">
                <a:spLocks noRot="1" noChangeAspect="1" noMove="1" noResize="1" noEditPoints="1" noAdjustHandles="1" noChangeArrowheads="1" noChangeShapeType="1" noTextEdit="1"/>
              </p:cNvSpPr>
              <p:nvPr/>
            </p:nvSpPr>
            <p:spPr>
              <a:xfrm>
                <a:off x="1000137" y="2478160"/>
                <a:ext cx="3031792" cy="1633268"/>
              </a:xfrm>
              <a:prstGeom prst="rect">
                <a:avLst/>
              </a:prstGeom>
              <a:blipFill>
                <a:blip r:embed="rId2"/>
                <a:stretch>
                  <a:fillRect l="-1811" t="-2247" r="-604"/>
                </a:stretch>
              </a:blipFill>
            </p:spPr>
            <p:txBody>
              <a:bodyPr/>
              <a:lstStyle/>
              <a:p>
                <a:r>
                  <a:rPr lang="es-ES">
                    <a:noFill/>
                  </a:rPr>
                  <a:t> </a:t>
                </a:r>
              </a:p>
            </p:txBody>
          </p:sp>
        </mc:Fallback>
      </mc:AlternateContent>
      <p:pic>
        <p:nvPicPr>
          <p:cNvPr id="10" name="Gráfico 9">
            <a:extLst>
              <a:ext uri="{FF2B5EF4-FFF2-40B4-BE49-F238E27FC236}">
                <a16:creationId xmlns:a16="http://schemas.microsoft.com/office/drawing/2014/main" id="{C582D9ED-A2CE-6C08-D473-4C1FC636E8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98DA9316-CFD5-58C0-735F-237403D53172}"/>
              </a:ext>
            </a:extLst>
          </p:cNvPr>
          <p:cNvSpPr txBox="1">
            <a:spLocks/>
          </p:cNvSpPr>
          <p:nvPr/>
        </p:nvSpPr>
        <p:spPr>
          <a:xfrm>
            <a:off x="685800" y="408883"/>
            <a:ext cx="10994410" cy="1025922"/>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#2 – MZI Design</a:t>
            </a:r>
          </a:p>
          <a:p>
            <a:pPr marL="12700">
              <a:spcBef>
                <a:spcPts val="100"/>
              </a:spcBef>
            </a:pPr>
            <a:r>
              <a:rPr lang="en-US" b="0" kern="0" spc="-5" dirty="0">
                <a:latin typeface="+mj-lt"/>
                <a:cs typeface="Lucida Sans"/>
              </a:rPr>
              <a:t>Design a MZI with FSR = 10 nm at 1550 nm</a:t>
            </a:r>
            <a:br>
              <a:rPr lang="en-US" b="0" kern="0" spc="-5" dirty="0">
                <a:latin typeface="+mj-lt"/>
                <a:cs typeface="Lucida Sans"/>
              </a:rPr>
            </a:br>
            <a:endParaRPr lang="en-US" b="0" kern="0" dirty="0">
              <a:latin typeface="+mj-lt"/>
              <a:cs typeface="Lucida Sans"/>
            </a:endParaRPr>
          </a:p>
        </p:txBody>
      </p:sp>
      <p:pic>
        <p:nvPicPr>
          <p:cNvPr id="2" name="Imagen 1">
            <a:extLst>
              <a:ext uri="{FF2B5EF4-FFF2-40B4-BE49-F238E27FC236}">
                <a16:creationId xmlns:a16="http://schemas.microsoft.com/office/drawing/2014/main" id="{C6E35811-3CCC-E727-4966-833B6501CB03}"/>
              </a:ext>
            </a:extLst>
          </p:cNvPr>
          <p:cNvPicPr>
            <a:picLocks noChangeAspect="1"/>
          </p:cNvPicPr>
          <p:nvPr/>
        </p:nvPicPr>
        <p:blipFill>
          <a:blip r:embed="rId4"/>
          <a:stretch>
            <a:fillRect/>
          </a:stretch>
        </p:blipFill>
        <p:spPr>
          <a:xfrm>
            <a:off x="4421030" y="1730198"/>
            <a:ext cx="4241762" cy="2574541"/>
          </a:xfrm>
          <a:prstGeom prst="rect">
            <a:avLst/>
          </a:prstGeom>
        </p:spPr>
      </p:pic>
    </p:spTree>
    <p:extLst>
      <p:ext uri="{BB962C8B-B14F-4D97-AF65-F5344CB8AC3E}">
        <p14:creationId xmlns:p14="http://schemas.microsoft.com/office/powerpoint/2010/main" val="1222654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9F4CA-B3F7-EB90-C3BA-460C18DFF68A}"/>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2C32E102-EC3C-CE78-2415-BA735E8F3D5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6A97BC0E-0E90-DFFA-A945-EEFA755D478F}"/>
              </a:ext>
            </a:extLst>
          </p:cNvPr>
          <p:cNvSpPr>
            <a:spLocks noGrp="1"/>
          </p:cNvSpPr>
          <p:nvPr>
            <p:ph type="sldNum" sz="quarter" idx="7"/>
          </p:nvPr>
        </p:nvSpPr>
        <p:spPr/>
        <p:txBody>
          <a:bodyPr/>
          <a:lstStyle/>
          <a:p>
            <a:fld id="{C2F52289-4012-4053-9770-FE82CEB9514F}" type="slidenum">
              <a:rPr lang="en-US" smtClean="0"/>
              <a:pPr/>
              <a:t>6</a:t>
            </a:fld>
            <a:endParaRPr lang="en-US"/>
          </a:p>
        </p:txBody>
      </p:sp>
      <p:pic>
        <p:nvPicPr>
          <p:cNvPr id="10" name="Gráfico 9">
            <a:extLst>
              <a:ext uri="{FF2B5EF4-FFF2-40B4-BE49-F238E27FC236}">
                <a16:creationId xmlns:a16="http://schemas.microsoft.com/office/drawing/2014/main" id="{D8D393EE-E7E7-F426-EB02-921E3B4C6FF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970A7ABF-62FA-8BC6-90E6-6A87C2C27151}"/>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#3 – Delay imbalance with loss</a:t>
            </a:r>
          </a:p>
          <a:p>
            <a:pPr marL="12700">
              <a:spcBef>
                <a:spcPts val="100"/>
              </a:spcBef>
            </a:pPr>
            <a:r>
              <a:rPr lang="en-US" b="0" kern="0" spc="-5">
                <a:latin typeface="+mj-lt"/>
                <a:cs typeface="Lucida Sans"/>
              </a:rPr>
              <a:t>Fringe visibility</a:t>
            </a:r>
            <a:endParaRPr lang="en-US" b="0" kern="0">
              <a:latin typeface="+mj-lt"/>
              <a:cs typeface="Lucida Sans"/>
            </a:endParaRPr>
          </a:p>
        </p:txBody>
      </p:sp>
      <p:sp>
        <p:nvSpPr>
          <p:cNvPr id="2" name="CuadroTexto 1">
            <a:extLst>
              <a:ext uri="{FF2B5EF4-FFF2-40B4-BE49-F238E27FC236}">
                <a16:creationId xmlns:a16="http://schemas.microsoft.com/office/drawing/2014/main" id="{80549B71-9D6F-09A4-A56E-F47E64164AB0}"/>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lIns="91440" tIns="45720" rIns="91440" bIns="45720" rtlCol="0" anchor="t">
            <a:spAutoFit/>
          </a:bodyPr>
          <a:lstStyle/>
          <a:p>
            <a:pPr algn="just"/>
            <a:r>
              <a:rPr lang="en-US" sz="1200" dirty="0">
                <a:latin typeface="Arial" panose="020B0604020202020204" pitchFamily="34" charset="0"/>
                <a:cs typeface="Arial" panose="020B0604020202020204" pitchFamily="34" charset="0"/>
              </a:rPr>
              <a:t>Comment results: describe the transfer function, is there any interference pattern in case 1? Is there any interference pattern in case 2? Explain the difference between both cases. Compare the Extinction Ratio of both variations. </a:t>
            </a:r>
          </a:p>
          <a:p>
            <a:pPr algn="just"/>
            <a:r>
              <a:rPr lang="en-US" sz="1200" dirty="0">
                <a:latin typeface="Arial" panose="020B0604020202020204" pitchFamily="34" charset="0"/>
                <a:cs typeface="Arial" panose="020B0604020202020204" pitchFamily="34" charset="0"/>
              </a:rPr>
              <a:t>Extra: What coupling coefficient will you select for the input coupler if you want to match the losses of the longer arm? Simulate and extract the ER.</a:t>
            </a:r>
          </a:p>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periódica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según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sí</a:t>
            </a:r>
            <a:r>
              <a:rPr lang="en-US" sz="1200" dirty="0">
                <a:latin typeface="Arial" panose="020B0604020202020204" pitchFamily="34" charset="0"/>
                <a:cs typeface="Arial" panose="020B0604020202020204" pitchFamily="34" charset="0"/>
              </a:rPr>
              <a:t> hay un patron de </a:t>
            </a:r>
            <a:r>
              <a:rPr lang="en-US" sz="1200" dirty="0" err="1">
                <a:latin typeface="Arial" panose="020B0604020202020204" pitchFamily="34" charset="0"/>
                <a:cs typeface="Arial" panose="020B0604020202020204" pitchFamily="34" charset="0"/>
              </a:rPr>
              <a:t>interferencia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oscilaciones</a:t>
            </a:r>
            <a:r>
              <a:rPr lang="en-US" sz="1200" dirty="0">
                <a:latin typeface="Arial" panose="020B0604020202020204" pitchFamily="34" charset="0"/>
                <a:cs typeface="Arial" panose="020B0604020202020204" pitchFamily="34" charset="0"/>
              </a:rPr>
              <a:t> son </a:t>
            </a:r>
            <a:r>
              <a:rPr lang="en-US" sz="1200" dirty="0" err="1">
                <a:latin typeface="Arial" panose="020B0604020202020204" pitchFamily="34" charset="0"/>
                <a:cs typeface="Arial" panose="020B0604020202020204" pitchFamily="34" charset="0"/>
              </a:rPr>
              <a:t>complementarias</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salidas</a:t>
            </a:r>
            <a:r>
              <a:rPr lang="en-US" sz="1200" dirty="0">
                <a:latin typeface="Arial" panose="020B0604020202020204" pitchFamily="34" charset="0"/>
                <a:cs typeface="Arial" panose="020B0604020202020204" pitchFamily="34" charset="0"/>
              </a:rPr>
              <a:t>. En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haber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máximos</a:t>
            </a:r>
            <a:r>
              <a:rPr lang="en-US" sz="1200" dirty="0">
                <a:latin typeface="Arial" panose="020B0604020202020204" pitchFamily="34" charset="0"/>
                <a:cs typeface="Arial" panose="020B0604020202020204" pitchFamily="34" charset="0"/>
              </a:rPr>
              <a:t> son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bajos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mínimos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altos, </a:t>
            </a:r>
            <a:r>
              <a:rPr lang="en-US" sz="1200" dirty="0" err="1">
                <a:latin typeface="Arial" panose="020B0604020202020204" pitchFamily="34" charset="0"/>
                <a:cs typeface="Arial" panose="020B0604020202020204" pitchFamily="34" charset="0"/>
              </a:rPr>
              <a:t>disminuyendo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ER=1.53dB.</a:t>
            </a:r>
          </a:p>
          <a:p>
            <a:pPr algn="just"/>
            <a:endParaRPr lang="en-US" sz="1200" dirty="0">
              <a:latin typeface="Arial" panose="020B0604020202020204" pitchFamily="34" charset="0"/>
              <a:cs typeface="Arial" panose="020B0604020202020204" pitchFamily="34" charset="0"/>
            </a:endParaRPr>
          </a:p>
        </p:txBody>
      </p:sp>
      <p:sp>
        <p:nvSpPr>
          <p:cNvPr id="4" name="Rectángulo 3">
            <a:extLst>
              <a:ext uri="{FF2B5EF4-FFF2-40B4-BE49-F238E27FC236}">
                <a16:creationId xmlns:a16="http://schemas.microsoft.com/office/drawing/2014/main" id="{CAFA687B-446D-B4DA-6C11-FE9D72BA69D5}"/>
              </a:ext>
            </a:extLst>
          </p:cNvPr>
          <p:cNvSpPr/>
          <p:nvPr/>
        </p:nvSpPr>
        <p:spPr>
          <a:xfrm>
            <a:off x="567687" y="1428811"/>
            <a:ext cx="5875365" cy="32955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59B9DD2D-204D-983B-2FB5-C82CF1D2745C}"/>
              </a:ext>
            </a:extLst>
          </p:cNvPr>
          <p:cNvSpPr/>
          <p:nvPr/>
        </p:nvSpPr>
        <p:spPr>
          <a:xfrm>
            <a:off x="6549468" y="141837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600" b="1" dirty="0">
                <a:solidFill>
                  <a:schemeClr val="tx1"/>
                </a:solidFill>
                <a:latin typeface="Arial" panose="020B0604020202020204" pitchFamily="34" charset="0"/>
                <a:cs typeface="Arial" panose="020B0604020202020204" pitchFamily="34" charset="0"/>
              </a:rPr>
              <a:t>Hints:</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wvl</a:t>
            </a:r>
            <a:r>
              <a:rPr lang="en-US" sz="1600" dirty="0">
                <a:solidFill>
                  <a:schemeClr val="tx1"/>
                </a:solidFill>
                <a:latin typeface="Arial" panose="020B0604020202020204" pitchFamily="34" charset="0"/>
                <a:cs typeface="Arial" panose="020B0604020202020204" pitchFamily="34" charset="0"/>
                <a:sym typeface="Wingdings" pitchFamily="2" charset="2"/>
              </a:rPr>
              <a:t> [1550-1550.5] step 0.0000005</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Silicon waveguide model:</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n_eff</a:t>
            </a:r>
            <a:r>
              <a:rPr lang="en-US" sz="1600" dirty="0">
                <a:solidFill>
                  <a:schemeClr val="tx1"/>
                </a:solidFill>
                <a:latin typeface="Arial" panose="020B0604020202020204" pitchFamily="34" charset="0"/>
                <a:cs typeface="Arial" panose="020B0604020202020204" pitchFamily="34" charset="0"/>
                <a:sym typeface="Wingdings" pitchFamily="2" charset="2"/>
              </a:rPr>
              <a:t> = 2.38, </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n_g</a:t>
            </a:r>
            <a:r>
              <a:rPr lang="en-US" sz="1600" dirty="0">
                <a:solidFill>
                  <a:schemeClr val="tx1"/>
                </a:solidFill>
                <a:latin typeface="Arial" panose="020B0604020202020204" pitchFamily="34" charset="0"/>
                <a:cs typeface="Arial" panose="020B0604020202020204" pitchFamily="34" charset="0"/>
                <a:sym typeface="Wingdings" pitchFamily="2" charset="2"/>
              </a:rPr>
              <a:t> = 4.25, </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D=0,</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L_base</a:t>
            </a:r>
            <a:r>
              <a:rPr lang="en-US" sz="1600" dirty="0">
                <a:solidFill>
                  <a:schemeClr val="tx1"/>
                </a:solidFill>
                <a:latin typeface="Arial" panose="020B0604020202020204" pitchFamily="34" charset="0"/>
                <a:cs typeface="Arial" panose="020B0604020202020204" pitchFamily="34" charset="0"/>
                <a:sym typeface="Wingdings" pitchFamily="2" charset="2"/>
              </a:rPr>
              <a:t>=1000</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dL = </a:t>
            </a:r>
            <a:r>
              <a:rPr lang="en-US" sz="1600" dirty="0" err="1">
                <a:solidFill>
                  <a:schemeClr val="tx1"/>
                </a:solidFill>
                <a:latin typeface="Arial" panose="020B0604020202020204" pitchFamily="34" charset="0"/>
                <a:cs typeface="Arial" panose="020B0604020202020204" pitchFamily="34" charset="0"/>
                <a:sym typeface="Wingdings" pitchFamily="2" charset="2"/>
              </a:rPr>
              <a:t>L_base</a:t>
            </a:r>
            <a:r>
              <a:rPr lang="en-US" sz="1600" dirty="0">
                <a:solidFill>
                  <a:schemeClr val="tx1"/>
                </a:solidFill>
                <a:latin typeface="Arial" panose="020B0604020202020204" pitchFamily="34" charset="0"/>
                <a:cs typeface="Arial" panose="020B0604020202020204" pitchFamily="34" charset="0"/>
                <a:sym typeface="Wingdings" pitchFamily="2" charset="2"/>
              </a:rPr>
              <a:t> + 55960.0840224255;</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loss = 4 dB / cm</a:t>
            </a:r>
          </a:p>
          <a:p>
            <a:pPr algn="just"/>
            <a:r>
              <a:rPr lang="en-US" sz="1600" b="1" dirty="0">
                <a:solidFill>
                  <a:schemeClr val="tx1"/>
                </a:solidFill>
                <a:latin typeface="Arial" panose="020B0604020202020204" pitchFamily="34" charset="0"/>
                <a:cs typeface="Arial" panose="020B0604020202020204" pitchFamily="34" charset="0"/>
                <a:sym typeface="Wingdings" pitchFamily="2" charset="2"/>
              </a:rPr>
              <a:t>Case 1</a:t>
            </a:r>
            <a:r>
              <a:rPr lang="en-US" sz="1600" dirty="0">
                <a:solidFill>
                  <a:schemeClr val="tx1"/>
                </a:solidFill>
                <a:latin typeface="Arial" panose="020B0604020202020204" pitchFamily="34" charset="0"/>
                <a:cs typeface="Arial" panose="020B0604020202020204" pitchFamily="34" charset="0"/>
                <a:sym typeface="Wingdings" pitchFamily="2" charset="2"/>
              </a:rPr>
              <a:t>. Simulate for Ka = </a:t>
            </a:r>
            <a:r>
              <a:rPr lang="en-US" sz="1600" dirty="0" err="1">
                <a:solidFill>
                  <a:schemeClr val="tx1"/>
                </a:solidFill>
                <a:latin typeface="Arial" panose="020B0604020202020204" pitchFamily="34" charset="0"/>
                <a:cs typeface="Arial" panose="020B0604020202020204" pitchFamily="34" charset="0"/>
                <a:sym typeface="Wingdings" pitchFamily="2" charset="2"/>
              </a:rPr>
              <a:t>Kb</a:t>
            </a:r>
            <a:r>
              <a:rPr lang="en-US" sz="1600" dirty="0">
                <a:solidFill>
                  <a:schemeClr val="tx1"/>
                </a:solidFill>
                <a:latin typeface="Arial" panose="020B0604020202020204" pitchFamily="34" charset="0"/>
                <a:cs typeface="Arial" panose="020B0604020202020204" pitchFamily="34" charset="0"/>
                <a:sym typeface="Wingdings" pitchFamily="2" charset="2"/>
              </a:rPr>
              <a:t> = 0.5 for all </a:t>
            </a:r>
            <a:r>
              <a:rPr lang="en-US" sz="1600" dirty="0" err="1">
                <a:solidFill>
                  <a:schemeClr val="tx1"/>
                </a:solidFill>
                <a:latin typeface="Arial" panose="020B0604020202020204" pitchFamily="34" charset="0"/>
                <a:cs typeface="Arial" panose="020B0604020202020204" pitchFamily="34" charset="0"/>
                <a:sym typeface="Wingdings" pitchFamily="2" charset="2"/>
              </a:rPr>
              <a:t>wvl</a:t>
            </a:r>
            <a:endParaRPr lang="en-US" sz="1600" dirty="0">
              <a:solidFill>
                <a:schemeClr val="tx1"/>
              </a:solidFill>
              <a:latin typeface="Arial" panose="020B0604020202020204" pitchFamily="34" charset="0"/>
              <a:cs typeface="Arial" panose="020B0604020202020204" pitchFamily="34" charset="0"/>
              <a:sym typeface="Wingdings" pitchFamily="2" charset="2"/>
            </a:endParaRPr>
          </a:p>
        </p:txBody>
      </p:sp>
      <p:sp>
        <p:nvSpPr>
          <p:cNvPr id="9" name="CuadroTexto 8">
            <a:extLst>
              <a:ext uri="{FF2B5EF4-FFF2-40B4-BE49-F238E27FC236}">
                <a16:creationId xmlns:a16="http://schemas.microsoft.com/office/drawing/2014/main" id="{0C54884E-0CFF-2DDB-2E01-6A2CEA517847}"/>
              </a:ext>
            </a:extLst>
          </p:cNvPr>
          <p:cNvSpPr txBox="1"/>
          <p:nvPr/>
        </p:nvSpPr>
        <p:spPr>
          <a:xfrm>
            <a:off x="1690195" y="249430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8" name="Imagen 7">
            <a:extLst>
              <a:ext uri="{FF2B5EF4-FFF2-40B4-BE49-F238E27FC236}">
                <a16:creationId xmlns:a16="http://schemas.microsoft.com/office/drawing/2014/main" id="{A0AC8167-89D8-C79C-4A1B-2364C4C124DE}"/>
              </a:ext>
            </a:extLst>
          </p:cNvPr>
          <p:cNvPicPr>
            <a:picLocks noChangeAspect="1"/>
          </p:cNvPicPr>
          <p:nvPr/>
        </p:nvPicPr>
        <p:blipFill>
          <a:blip r:embed="rId3"/>
          <a:stretch>
            <a:fillRect/>
          </a:stretch>
        </p:blipFill>
        <p:spPr>
          <a:xfrm>
            <a:off x="954650" y="1625600"/>
            <a:ext cx="5141350" cy="2738672"/>
          </a:xfrm>
          <a:prstGeom prst="rect">
            <a:avLst/>
          </a:prstGeom>
        </p:spPr>
      </p:pic>
    </p:spTree>
    <p:extLst>
      <p:ext uri="{BB962C8B-B14F-4D97-AF65-F5344CB8AC3E}">
        <p14:creationId xmlns:p14="http://schemas.microsoft.com/office/powerpoint/2010/main" val="3435094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2BAC6-3A43-7A3D-7267-92C5CD031833}"/>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3BCB7616-5A13-9CF0-676B-02BA55A52A3C}"/>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318A4608-0616-6B75-BD2E-24CDB2EB5F70}"/>
              </a:ext>
            </a:extLst>
          </p:cNvPr>
          <p:cNvSpPr>
            <a:spLocks noGrp="1"/>
          </p:cNvSpPr>
          <p:nvPr>
            <p:ph type="sldNum" sz="quarter" idx="7"/>
          </p:nvPr>
        </p:nvSpPr>
        <p:spPr/>
        <p:txBody>
          <a:bodyPr/>
          <a:lstStyle/>
          <a:p>
            <a:fld id="{C2F52289-4012-4053-9770-FE82CEB9514F}" type="slidenum">
              <a:rPr lang="en-US" smtClean="0"/>
              <a:pPr/>
              <a:t>7</a:t>
            </a:fld>
            <a:endParaRPr lang="en-US"/>
          </a:p>
        </p:txBody>
      </p:sp>
      <p:pic>
        <p:nvPicPr>
          <p:cNvPr id="10" name="Gráfico 9">
            <a:extLst>
              <a:ext uri="{FF2B5EF4-FFF2-40B4-BE49-F238E27FC236}">
                <a16:creationId xmlns:a16="http://schemas.microsoft.com/office/drawing/2014/main" id="{B36CF8ED-4BED-AD83-C2A7-22442A22EA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D4E97894-F9DA-ACF5-41B2-C0833F853D73}"/>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#3 – Delay imbalance with loss</a:t>
            </a:r>
          </a:p>
          <a:p>
            <a:pPr marL="12700">
              <a:spcBef>
                <a:spcPts val="100"/>
              </a:spcBef>
            </a:pPr>
            <a:r>
              <a:rPr lang="en-US" b="0" kern="0" spc="-5">
                <a:latin typeface="+mj-lt"/>
                <a:cs typeface="Lucida Sans"/>
              </a:rPr>
              <a:t>Fringe visibility</a:t>
            </a:r>
            <a:endParaRPr lang="en-US" b="0" kern="0">
              <a:latin typeface="+mj-lt"/>
              <a:cs typeface="Lucida Sans"/>
            </a:endParaRPr>
          </a:p>
        </p:txBody>
      </p:sp>
      <p:sp>
        <p:nvSpPr>
          <p:cNvPr id="2" name="CuadroTexto 1">
            <a:extLst>
              <a:ext uri="{FF2B5EF4-FFF2-40B4-BE49-F238E27FC236}">
                <a16:creationId xmlns:a16="http://schemas.microsoft.com/office/drawing/2014/main" id="{305169C8-1970-93CE-E3F4-060DE50AFFB7}"/>
              </a:ext>
            </a:extLst>
          </p:cNvPr>
          <p:cNvSpPr txBox="1"/>
          <p:nvPr/>
        </p:nvSpPr>
        <p:spPr>
          <a:xfrm>
            <a:off x="609441" y="4860334"/>
            <a:ext cx="11199971" cy="1569660"/>
          </a:xfrm>
          <a:prstGeom prst="rect">
            <a:avLst/>
          </a:prstGeom>
          <a:solidFill>
            <a:schemeClr val="bg1">
              <a:lumMod val="95000"/>
            </a:schemeClr>
          </a:solidFill>
          <a:ln w="28575">
            <a:solidFill>
              <a:srgbClr val="E0700D"/>
            </a:solidFill>
          </a:ln>
        </p:spPr>
        <p:txBody>
          <a:bodyPr wrap="square" lIns="91440" tIns="45720" rIns="91440" bIns="45720" rtlCol="0" anchor="t">
            <a:spAutoFit/>
          </a:bodyPr>
          <a:lstStyle/>
          <a:p>
            <a:pPr algn="just"/>
            <a:r>
              <a:rPr lang="en-US" sz="1200" dirty="0">
                <a:latin typeface="Arial" panose="020B0604020202020204" pitchFamily="34" charset="0"/>
                <a:cs typeface="Arial" panose="020B0604020202020204" pitchFamily="34" charset="0"/>
              </a:rPr>
              <a:t>Comment results: describe the transfer function, is there any interference pattern in case 1? Is there any interference pattern in case 2? Explain the difference between both cases. Compare the Extinction Ratio of both variations. </a:t>
            </a:r>
          </a:p>
          <a:p>
            <a:pPr algn="just"/>
            <a:r>
              <a:rPr lang="en-US" sz="1200" dirty="0">
                <a:latin typeface="Arial" panose="020B0604020202020204" pitchFamily="34" charset="0"/>
                <a:cs typeface="Arial" panose="020B0604020202020204" pitchFamily="34" charset="0"/>
              </a:rPr>
              <a:t>Extra: What coupling coefficient will you select for the input coupler if you want to match the losses of the longer arm? Simulate and extract the ER.</a:t>
            </a:r>
          </a:p>
          <a:p>
            <a:pPr algn="just"/>
            <a:r>
              <a:rPr lang="en-US" sz="1200" dirty="0">
                <a:latin typeface="Arial" panose="020B0604020202020204" pitchFamily="34" charset="0"/>
                <a:cs typeface="Arial" panose="020B0604020202020204" pitchFamily="34" charset="0"/>
              </a:rPr>
              <a:t>En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sigue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siendo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periódica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pero</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interferencia</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débil</a:t>
            </a:r>
            <a:r>
              <a:rPr lang="en-US" sz="1200" dirty="0">
                <a:latin typeface="Arial" panose="020B0604020202020204" pitchFamily="34" charset="0"/>
                <a:cs typeface="Arial" panose="020B0604020202020204" pitchFamily="34" charset="0"/>
              </a:rPr>
              <a:t> (ER = 0.42dB). </a:t>
            </a:r>
            <a:r>
              <a:rPr lang="en-US" sz="1200" dirty="0" err="1">
                <a:latin typeface="Arial" panose="020B0604020202020204" pitchFamily="34" charset="0"/>
                <a:cs typeface="Arial" panose="020B0604020202020204" pitchFamily="34" charset="0"/>
              </a:rPr>
              <a:t>Aunque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nivel</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sube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transmite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brazo</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desbalance</a:t>
            </a:r>
            <a:r>
              <a:rPr lang="en-US" sz="1200" dirty="0">
                <a:latin typeface="Arial" panose="020B0604020202020204" pitchFamily="34" charset="0"/>
                <a:cs typeface="Arial" panose="020B0604020202020204" pitchFamily="34" charset="0"/>
              </a:rPr>
              <a:t> entre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de ambos </a:t>
            </a:r>
            <a:r>
              <a:rPr lang="en-US" sz="1200" dirty="0" err="1">
                <a:latin typeface="Arial" panose="020B0604020202020204" pitchFamily="34" charset="0"/>
                <a:cs typeface="Arial" panose="020B0604020202020204" pitchFamily="34" charset="0"/>
              </a:rPr>
              <a:t>brazos</a:t>
            </a:r>
            <a:r>
              <a:rPr lang="en-US" sz="1200" dirty="0">
                <a:latin typeface="Arial" panose="020B0604020202020204" pitchFamily="34" charset="0"/>
                <a:cs typeface="Arial" panose="020B0604020202020204" pitchFamily="34" charset="0"/>
              </a:rPr>
              <a:t> no es comparable y la </a:t>
            </a:r>
            <a:r>
              <a:rPr lang="en-US" sz="1200" dirty="0" err="1">
                <a:latin typeface="Arial" panose="020B0604020202020204" pitchFamily="34" charset="0"/>
                <a:cs typeface="Arial" panose="020B0604020202020204" pitchFamily="34" charset="0"/>
              </a:rPr>
              <a:t>interferencia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desaparece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poder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compensar</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brazo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largo, hay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mandar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dicho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brazo</a:t>
            </a:r>
            <a:r>
              <a:rPr lang="en-US" sz="1200" dirty="0">
                <a:latin typeface="Arial" panose="020B0604020202020204" pitchFamily="34" charset="0"/>
                <a:cs typeface="Arial" panose="020B0604020202020204" pitchFamily="34" charset="0"/>
              </a:rPr>
              <a:t>. En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extremo, para </a:t>
            </a:r>
            <a:r>
              <a:rPr lang="en-US" sz="1200" dirty="0" err="1">
                <a:latin typeface="Arial" panose="020B0604020202020204" pitchFamily="34" charset="0"/>
                <a:cs typeface="Arial" panose="020B0604020202020204" pitchFamily="34" charset="0"/>
              </a:rPr>
              <a:t>compensar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unos</a:t>
            </a:r>
            <a:r>
              <a:rPr lang="en-US" sz="1200" dirty="0">
                <a:latin typeface="Arial" panose="020B0604020202020204" pitchFamily="34" charset="0"/>
                <a:cs typeface="Arial" panose="020B0604020202020204" pitchFamily="34" charset="0"/>
              </a:rPr>
              <a:t> 22db, </a:t>
            </a:r>
            <a:r>
              <a:rPr lang="en-US" sz="1200" dirty="0" err="1">
                <a:latin typeface="Arial" panose="020B0604020202020204" pitchFamily="34" charset="0"/>
                <a:cs typeface="Arial" panose="020B0604020202020204" pitchFamily="34" charset="0"/>
              </a:rPr>
              <a:t>habría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meter </a:t>
            </a:r>
            <a:r>
              <a:rPr lang="en-US" sz="1200" dirty="0" err="1">
                <a:latin typeface="Arial" panose="020B0604020202020204" pitchFamily="34" charset="0"/>
                <a:cs typeface="Arial" panose="020B0604020202020204" pitchFamily="34" charset="0"/>
              </a:rPr>
              <a:t>mucha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ese </a:t>
            </a:r>
            <a:r>
              <a:rPr lang="en-US" sz="1200" dirty="0" err="1">
                <a:latin typeface="Arial" panose="020B0604020202020204" pitchFamily="34" charset="0"/>
                <a:cs typeface="Arial" panose="020B0604020202020204" pitchFamily="34" charset="0"/>
              </a:rPr>
              <a:t>brazo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simulando</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un ER </a:t>
            </a:r>
            <a:r>
              <a:rPr lang="en-US" sz="1200" dirty="0" err="1">
                <a:latin typeface="Arial" panose="020B0604020202020204" pitchFamily="34" charset="0"/>
                <a:cs typeface="Arial" panose="020B0604020202020204" pitchFamily="34" charset="0"/>
              </a:rPr>
              <a:t>elevado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unos</a:t>
            </a:r>
            <a:r>
              <a:rPr lang="en-US" sz="1200" dirty="0">
                <a:latin typeface="Arial" panose="020B0604020202020204" pitchFamily="34" charset="0"/>
                <a:cs typeface="Arial" panose="020B0604020202020204" pitchFamily="34" charset="0"/>
              </a:rPr>
              <a:t> 80db) </a:t>
            </a:r>
            <a:r>
              <a:rPr lang="en-US" sz="1200" dirty="0" err="1">
                <a:latin typeface="Arial" panose="020B0604020202020204" pitchFamily="34" charset="0"/>
                <a:cs typeface="Arial" panose="020B0604020202020204" pitchFamily="34" charset="0"/>
              </a:rPr>
              <a:t>habría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poner</a:t>
            </a:r>
            <a:r>
              <a:rPr lang="en-US" sz="1200" dirty="0">
                <a:latin typeface="Arial" panose="020B0604020202020204" pitchFamily="34" charset="0"/>
                <a:cs typeface="Arial" panose="020B0604020202020204" pitchFamily="34" charset="0"/>
              </a:rPr>
              <a:t> Ka = 0.994. </a:t>
            </a:r>
            <a:r>
              <a:rPr lang="en-US" sz="1200" dirty="0" err="1">
                <a:latin typeface="Arial" panose="020B0604020202020204" pitchFamily="34" charset="0"/>
                <a:cs typeface="Arial" panose="020B0604020202020204" pitchFamily="34" charset="0"/>
              </a:rPr>
              <a:t>Aunque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niveles</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son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bajos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consigue</a:t>
            </a:r>
            <a:r>
              <a:rPr lang="en-US" sz="1200" dirty="0">
                <a:latin typeface="Arial" panose="020B0604020202020204" pitchFamily="34" charset="0"/>
                <a:cs typeface="Arial" panose="020B0604020202020204" pitchFamily="34" charset="0"/>
              </a:rPr>
              <a:t> balance de </a:t>
            </a:r>
            <a:r>
              <a:rPr lang="en-US" sz="1200" dirty="0" err="1">
                <a:latin typeface="Arial" panose="020B0604020202020204" pitchFamily="34" charset="0"/>
                <a:cs typeface="Arial" panose="020B0604020202020204" pitchFamily="34" charset="0"/>
              </a:rPr>
              <a:t>potencias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tanto, </a:t>
            </a:r>
            <a:r>
              <a:rPr lang="en-US" sz="1200" dirty="0" err="1">
                <a:latin typeface="Arial" panose="020B0604020202020204" pitchFamily="34" charset="0"/>
                <a:cs typeface="Arial" panose="020B0604020202020204" pitchFamily="34" charset="0"/>
              </a:rPr>
              <a:t>interferencia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destructiva</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constructiva</a:t>
            </a:r>
            <a:r>
              <a:rPr lang="en-US" sz="1200" dirty="0">
                <a:latin typeface="Arial" panose="020B0604020202020204" pitchFamily="34" charset="0"/>
                <a:cs typeface="Arial" panose="020B0604020202020204" pitchFamily="34" charset="0"/>
              </a:rPr>
              <a:t>.</a:t>
            </a:r>
          </a:p>
        </p:txBody>
      </p:sp>
      <p:sp>
        <p:nvSpPr>
          <p:cNvPr id="4" name="Rectángulo 3">
            <a:extLst>
              <a:ext uri="{FF2B5EF4-FFF2-40B4-BE49-F238E27FC236}">
                <a16:creationId xmlns:a16="http://schemas.microsoft.com/office/drawing/2014/main" id="{A3D0DCC6-D308-6F85-03EB-1B617CE89898}"/>
              </a:ext>
            </a:extLst>
          </p:cNvPr>
          <p:cNvSpPr/>
          <p:nvPr/>
        </p:nvSpPr>
        <p:spPr>
          <a:xfrm>
            <a:off x="567687" y="1428811"/>
            <a:ext cx="5875365" cy="329559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5C79C3D3-A414-D20A-CFF3-6D53EFB8D7B8}"/>
              </a:ext>
            </a:extLst>
          </p:cNvPr>
          <p:cNvSpPr/>
          <p:nvPr/>
        </p:nvSpPr>
        <p:spPr>
          <a:xfrm>
            <a:off x="6549468" y="141837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600" b="1" dirty="0">
                <a:solidFill>
                  <a:schemeClr val="tx1"/>
                </a:solidFill>
                <a:latin typeface="Arial" panose="020B0604020202020204" pitchFamily="34" charset="0"/>
                <a:cs typeface="Arial" panose="020B0604020202020204" pitchFamily="34" charset="0"/>
              </a:rPr>
              <a:t>Hints:</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wvl</a:t>
            </a:r>
            <a:r>
              <a:rPr lang="en-US" sz="1600" dirty="0">
                <a:solidFill>
                  <a:schemeClr val="tx1"/>
                </a:solidFill>
                <a:latin typeface="Arial" panose="020B0604020202020204" pitchFamily="34" charset="0"/>
                <a:cs typeface="Arial" panose="020B0604020202020204" pitchFamily="34" charset="0"/>
                <a:sym typeface="Wingdings" pitchFamily="2" charset="2"/>
              </a:rPr>
              <a:t> [1550-1550.5] step 0.0000005</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Silicon waveguide model:</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n_eff</a:t>
            </a:r>
            <a:r>
              <a:rPr lang="en-US" sz="1600" dirty="0">
                <a:solidFill>
                  <a:schemeClr val="tx1"/>
                </a:solidFill>
                <a:latin typeface="Arial" panose="020B0604020202020204" pitchFamily="34" charset="0"/>
                <a:cs typeface="Arial" panose="020B0604020202020204" pitchFamily="34" charset="0"/>
                <a:sym typeface="Wingdings" pitchFamily="2" charset="2"/>
              </a:rPr>
              <a:t> = 2.38, </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n_g</a:t>
            </a:r>
            <a:r>
              <a:rPr lang="en-US" sz="1600" dirty="0">
                <a:solidFill>
                  <a:schemeClr val="tx1"/>
                </a:solidFill>
                <a:latin typeface="Arial" panose="020B0604020202020204" pitchFamily="34" charset="0"/>
                <a:cs typeface="Arial" panose="020B0604020202020204" pitchFamily="34" charset="0"/>
                <a:sym typeface="Wingdings" pitchFamily="2" charset="2"/>
              </a:rPr>
              <a:t> = 4.25, </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D=0,</a:t>
            </a: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L_base</a:t>
            </a:r>
            <a:r>
              <a:rPr lang="en-US" sz="1600" dirty="0">
                <a:solidFill>
                  <a:schemeClr val="tx1"/>
                </a:solidFill>
                <a:latin typeface="Arial" panose="020B0604020202020204" pitchFamily="34" charset="0"/>
                <a:cs typeface="Arial" panose="020B0604020202020204" pitchFamily="34" charset="0"/>
                <a:sym typeface="Wingdings" pitchFamily="2" charset="2"/>
              </a:rPr>
              <a:t>=1000</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dL = </a:t>
            </a:r>
            <a:r>
              <a:rPr lang="en-US" sz="1600" dirty="0" err="1">
                <a:solidFill>
                  <a:schemeClr val="tx1"/>
                </a:solidFill>
                <a:latin typeface="Arial" panose="020B0604020202020204" pitchFamily="34" charset="0"/>
                <a:cs typeface="Arial" panose="020B0604020202020204" pitchFamily="34" charset="0"/>
                <a:sym typeface="Wingdings" pitchFamily="2" charset="2"/>
              </a:rPr>
              <a:t>L_base</a:t>
            </a:r>
            <a:r>
              <a:rPr lang="en-US" sz="1600" dirty="0">
                <a:solidFill>
                  <a:schemeClr val="tx1"/>
                </a:solidFill>
                <a:latin typeface="Arial" panose="020B0604020202020204" pitchFamily="34" charset="0"/>
                <a:cs typeface="Arial" panose="020B0604020202020204" pitchFamily="34" charset="0"/>
                <a:sym typeface="Wingdings" pitchFamily="2" charset="2"/>
              </a:rPr>
              <a:t> + 55960.0840224255;</a:t>
            </a:r>
          </a:p>
          <a:p>
            <a:pPr algn="just"/>
            <a:r>
              <a:rPr lang="en-US" sz="1600" dirty="0">
                <a:solidFill>
                  <a:schemeClr val="tx1"/>
                </a:solidFill>
                <a:latin typeface="Arial" panose="020B0604020202020204" pitchFamily="34" charset="0"/>
                <a:cs typeface="Arial" panose="020B0604020202020204" pitchFamily="34" charset="0"/>
                <a:sym typeface="Wingdings" pitchFamily="2" charset="2"/>
              </a:rPr>
              <a:t>loss = 4 dB / cm</a:t>
            </a:r>
          </a:p>
          <a:p>
            <a:pPr algn="just"/>
            <a:r>
              <a:rPr lang="en-US" sz="1600" b="1" dirty="0">
                <a:solidFill>
                  <a:schemeClr val="tx1"/>
                </a:solidFill>
                <a:latin typeface="Arial" panose="020B0604020202020204" pitchFamily="34" charset="0"/>
                <a:cs typeface="Arial" panose="020B0604020202020204" pitchFamily="34" charset="0"/>
                <a:sym typeface="Wingdings" pitchFamily="2" charset="2"/>
              </a:rPr>
              <a:t>Case 2</a:t>
            </a:r>
            <a:r>
              <a:rPr lang="en-US" sz="1600" dirty="0">
                <a:solidFill>
                  <a:schemeClr val="tx1"/>
                </a:solidFill>
                <a:latin typeface="Arial" panose="020B0604020202020204" pitchFamily="34" charset="0"/>
                <a:cs typeface="Arial" panose="020B0604020202020204" pitchFamily="34" charset="0"/>
                <a:sym typeface="Wingdings" pitchFamily="2" charset="2"/>
              </a:rPr>
              <a:t>. Simulate for Ka=0.1 for all </a:t>
            </a:r>
            <a:r>
              <a:rPr lang="en-US" sz="1600" dirty="0" err="1">
                <a:solidFill>
                  <a:schemeClr val="tx1"/>
                </a:solidFill>
                <a:latin typeface="Arial" panose="020B0604020202020204" pitchFamily="34" charset="0"/>
                <a:cs typeface="Arial" panose="020B0604020202020204" pitchFamily="34" charset="0"/>
                <a:sym typeface="Wingdings" pitchFamily="2" charset="2"/>
              </a:rPr>
              <a:t>wvl</a:t>
            </a:r>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r>
              <a:rPr lang="en-US" sz="1600" dirty="0" err="1">
                <a:solidFill>
                  <a:schemeClr val="tx1"/>
                </a:solidFill>
                <a:latin typeface="Arial" panose="020B0604020202020204" pitchFamily="34" charset="0"/>
                <a:cs typeface="Arial" panose="020B0604020202020204" pitchFamily="34" charset="0"/>
                <a:sym typeface="Wingdings" pitchFamily="2" charset="2"/>
              </a:rPr>
              <a:t>Kb</a:t>
            </a:r>
            <a:r>
              <a:rPr lang="en-US" sz="1600" dirty="0">
                <a:solidFill>
                  <a:schemeClr val="tx1"/>
                </a:solidFill>
                <a:latin typeface="Arial" panose="020B0604020202020204" pitchFamily="34" charset="0"/>
                <a:cs typeface="Arial" panose="020B0604020202020204" pitchFamily="34" charset="0"/>
                <a:sym typeface="Wingdings" pitchFamily="2" charset="2"/>
              </a:rPr>
              <a:t>=0.5 for all </a:t>
            </a:r>
            <a:r>
              <a:rPr lang="en-US" sz="1600" dirty="0" err="1">
                <a:solidFill>
                  <a:schemeClr val="tx1"/>
                </a:solidFill>
                <a:latin typeface="Arial" panose="020B0604020202020204" pitchFamily="34" charset="0"/>
                <a:cs typeface="Arial" panose="020B0604020202020204" pitchFamily="34" charset="0"/>
                <a:sym typeface="Wingdings" pitchFamily="2" charset="2"/>
              </a:rPr>
              <a:t>wvl</a:t>
            </a:r>
            <a:endParaRPr lang="en-US" sz="1600" dirty="0">
              <a:solidFill>
                <a:schemeClr val="tx1"/>
              </a:solidFill>
              <a:latin typeface="Arial" panose="020B0604020202020204" pitchFamily="34" charset="0"/>
              <a:cs typeface="Arial" panose="020B0604020202020204" pitchFamily="34" charset="0"/>
            </a:endParaRPr>
          </a:p>
        </p:txBody>
      </p:sp>
      <p:sp>
        <p:nvSpPr>
          <p:cNvPr id="9" name="CuadroTexto 8">
            <a:extLst>
              <a:ext uri="{FF2B5EF4-FFF2-40B4-BE49-F238E27FC236}">
                <a16:creationId xmlns:a16="http://schemas.microsoft.com/office/drawing/2014/main" id="{0B7602C4-F055-A15E-D163-562F4CEB3374}"/>
              </a:ext>
            </a:extLst>
          </p:cNvPr>
          <p:cNvSpPr txBox="1"/>
          <p:nvPr/>
        </p:nvSpPr>
        <p:spPr>
          <a:xfrm>
            <a:off x="1690195" y="2494306"/>
            <a:ext cx="3171061" cy="1154162"/>
          </a:xfrm>
          <a:prstGeom prst="rect">
            <a:avLst/>
          </a:prstGeom>
          <a:noFill/>
        </p:spPr>
        <p:txBody>
          <a:bodyPr wrap="none" rtlCol="0">
            <a:spAutoFit/>
          </a:bodyPr>
          <a:lstStyle/>
          <a:p>
            <a:pPr algn="ctr"/>
            <a:r>
              <a:rPr lang="es-ES"/>
              <a:t>MZI transfer </a:t>
            </a:r>
            <a:r>
              <a:rPr lang="es-ES" err="1"/>
              <a:t>functions</a:t>
            </a:r>
            <a:endParaRPr lang="en-US"/>
          </a:p>
          <a:p>
            <a:pPr algn="ctr"/>
            <a:endParaRPr lang="en-US"/>
          </a:p>
          <a:p>
            <a:pPr algn="ctr"/>
            <a:r>
              <a:rPr lang="en-US"/>
              <a:t>Paste plot here</a:t>
            </a:r>
          </a:p>
        </p:txBody>
      </p:sp>
      <p:pic>
        <p:nvPicPr>
          <p:cNvPr id="14" name="Imagen 13">
            <a:extLst>
              <a:ext uri="{FF2B5EF4-FFF2-40B4-BE49-F238E27FC236}">
                <a16:creationId xmlns:a16="http://schemas.microsoft.com/office/drawing/2014/main" id="{751D3DA2-B3D0-7771-39BF-E296A2E6061C}"/>
              </a:ext>
            </a:extLst>
          </p:cNvPr>
          <p:cNvPicPr>
            <a:picLocks noChangeAspect="1"/>
          </p:cNvPicPr>
          <p:nvPr/>
        </p:nvPicPr>
        <p:blipFill>
          <a:blip r:embed="rId3"/>
          <a:stretch>
            <a:fillRect/>
          </a:stretch>
        </p:blipFill>
        <p:spPr>
          <a:xfrm>
            <a:off x="609441" y="1474211"/>
            <a:ext cx="5577999" cy="3004608"/>
          </a:xfrm>
          <a:prstGeom prst="rect">
            <a:avLst/>
          </a:prstGeom>
        </p:spPr>
      </p:pic>
    </p:spTree>
    <p:extLst>
      <p:ext uri="{BB962C8B-B14F-4D97-AF65-F5344CB8AC3E}">
        <p14:creationId xmlns:p14="http://schemas.microsoft.com/office/powerpoint/2010/main" val="22587423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8</a:t>
            </a:fld>
            <a:endParaRPr lang="en-US"/>
          </a:p>
        </p:txBody>
      </p:sp>
      <p:sp>
        <p:nvSpPr>
          <p:cNvPr id="8" name="CuadroTexto 7">
            <a:extLst>
              <a:ext uri="{FF2B5EF4-FFF2-40B4-BE49-F238E27FC236}">
                <a16:creationId xmlns:a16="http://schemas.microsoft.com/office/drawing/2014/main" id="{D9601617-351E-AE1A-1F4D-693F2EA59361}"/>
              </a:ext>
            </a:extLst>
          </p:cNvPr>
          <p:cNvSpPr txBox="1"/>
          <p:nvPr/>
        </p:nvSpPr>
        <p:spPr>
          <a:xfrm>
            <a:off x="496235" y="5423771"/>
            <a:ext cx="11199530"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describer the transfer functions. which is the FSR? How is it related to the ring perimeter? </a:t>
            </a:r>
          </a:p>
          <a:p>
            <a:pPr algn="just"/>
            <a:r>
              <a:rPr lang="en-US" sz="1200" dirty="0">
                <a:latin typeface="Arial" panose="020B0604020202020204" pitchFamily="34" charset="0"/>
                <a:cs typeface="Arial" panose="020B0604020202020204" pitchFamily="34" charset="0"/>
              </a:rPr>
              <a:t>Show a numeric calculation of the FSR and length difference matching the results in the graph,</a:t>
            </a:r>
          </a:p>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un </a:t>
            </a:r>
            <a:r>
              <a:rPr lang="en-US" sz="1200" dirty="0" err="1">
                <a:latin typeface="Arial" panose="020B0604020202020204" pitchFamily="34" charset="0"/>
                <a:cs typeface="Arial" panose="020B0604020202020204" pitchFamily="34" charset="0"/>
              </a:rPr>
              <a:t>comportamiento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periodico</a:t>
            </a:r>
            <a:r>
              <a:rPr lang="en-US" sz="1200" dirty="0">
                <a:latin typeface="Arial" panose="020B0604020202020204" pitchFamily="34" charset="0"/>
                <a:cs typeface="Arial" panose="020B0604020202020204" pitchFamily="34" charset="0"/>
              </a:rPr>
              <a:t> con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resonancias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longitudes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hay </a:t>
            </a:r>
            <a:r>
              <a:rPr lang="en-US" sz="1200" dirty="0" err="1">
                <a:latin typeface="Arial" panose="020B0604020202020204" pitchFamily="34" charset="0"/>
                <a:cs typeface="Arial" panose="020B0604020202020204" pitchFamily="34" charset="0"/>
              </a:rPr>
              <a:t>interferencia</a:t>
            </a:r>
            <a:r>
              <a:rPr lang="en-US" sz="1200" dirty="0">
                <a:latin typeface="Arial" panose="020B0604020202020204" pitchFamily="34" charset="0"/>
                <a:cs typeface="Arial" panose="020B0604020202020204" pitchFamily="34" charset="0"/>
              </a:rPr>
              <a:t> constructive. </a:t>
            </a:r>
            <a:r>
              <a:rPr lang="en-US" sz="1200" dirty="0" err="1">
                <a:latin typeface="Arial" panose="020B0604020202020204" pitchFamily="34" charset="0"/>
                <a:cs typeface="Arial" panose="020B0604020202020204" pitchFamily="34" charset="0"/>
              </a:rPr>
              <a:t>Dichas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resonancias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repiten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11nm (se </a:t>
            </a:r>
            <a:r>
              <a:rPr lang="en-US" sz="1200" dirty="0" err="1">
                <a:latin typeface="Arial" panose="020B0604020202020204" pitchFamily="34" charset="0"/>
                <a:cs typeface="Arial" panose="020B0604020202020204" pitchFamily="34" charset="0"/>
              </a:rPr>
              <a:t>puede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calcular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gráficamente</a:t>
            </a:r>
            <a:r>
              <a:rPr lang="en-US" sz="1200" dirty="0">
                <a:latin typeface="Arial" panose="020B0604020202020204" pitchFamily="34" charset="0"/>
                <a:cs typeface="Arial" panose="020B0604020202020204" pitchFamily="34" charset="0"/>
              </a:rPr>
              <a:t>: (1600-1520nm)/7periodos). La FSR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también </a:t>
            </a:r>
            <a:r>
              <a:rPr lang="en-US" sz="1200" dirty="0" err="1">
                <a:latin typeface="Arial" panose="020B0604020202020204" pitchFamily="34" charset="0"/>
                <a:cs typeface="Arial" panose="020B0604020202020204" pitchFamily="34" charset="0"/>
              </a:rPr>
              <a:t>relacionada</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perímetro</a:t>
            </a:r>
            <a:r>
              <a:rPr lang="en-US" sz="1200" dirty="0">
                <a:latin typeface="Arial" panose="020B0604020202020204" pitchFamily="34" charset="0"/>
                <a:cs typeface="Arial" panose="020B0604020202020204" pitchFamily="34" charset="0"/>
              </a:rPr>
              <a:t> del Anillo, es </a:t>
            </a:r>
            <a:r>
              <a:rPr lang="en-US" sz="1200" dirty="0" err="1">
                <a:latin typeface="Arial" panose="020B0604020202020204" pitchFamily="34" charset="0"/>
                <a:cs typeface="Arial" panose="020B0604020202020204" pitchFamily="34" charset="0"/>
              </a:rPr>
              <a:t>decir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se ha visto </a:t>
            </a:r>
            <a:r>
              <a:rPr lang="en-US" sz="1200" dirty="0" err="1">
                <a:latin typeface="Arial" panose="020B0604020202020204" pitchFamily="34" charset="0"/>
                <a:cs typeface="Arial" panose="020B0604020202020204" pitchFamily="34" charset="0"/>
              </a:rPr>
              <a:t>anteriormente</a:t>
            </a:r>
            <a:r>
              <a:rPr lang="en-US" sz="1200">
                <a:latin typeface="Arial" panose="020B0604020202020204" pitchFamily="34" charset="0"/>
                <a:cs typeface="Arial" panose="020B0604020202020204" pitchFamily="34" charset="0"/>
              </a:rPr>
              <a:t>. Si </a:t>
            </a:r>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hacen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cálculos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matemáticos</a:t>
            </a:r>
            <a:r>
              <a:rPr lang="en-US" sz="1200" dirty="0">
                <a:latin typeface="Arial" panose="020B0604020202020204" pitchFamily="34" charset="0"/>
                <a:cs typeface="Arial" panose="020B0604020202020204" pitchFamily="34" charset="0"/>
              </a:rPr>
              <a:t>, la FSR es 11.305nm,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corresponde</a:t>
            </a:r>
            <a:r>
              <a:rPr lang="en-US" sz="1200" dirty="0">
                <a:latin typeface="Arial" panose="020B0604020202020204" pitchFamily="34" charset="0"/>
                <a:cs typeface="Arial" panose="020B0604020202020204" pitchFamily="34" charset="0"/>
              </a:rPr>
              <a:t> a lo  </a:t>
            </a:r>
            <a:r>
              <a:rPr lang="en-US" sz="1200" dirty="0" err="1">
                <a:latin typeface="Arial" panose="020B0604020202020204" pitchFamily="34" charset="0"/>
                <a:cs typeface="Arial" panose="020B0604020202020204" pitchFamily="34" charset="0"/>
              </a:rPr>
              <a:t>calculado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visualmente</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11" name="Rectángulo 10">
            <a:extLst>
              <a:ext uri="{FF2B5EF4-FFF2-40B4-BE49-F238E27FC236}">
                <a16:creationId xmlns:a16="http://schemas.microsoft.com/office/drawing/2014/main" id="{B811A5F9-C0B5-716C-70FB-9472E1BC2CD3}"/>
              </a:ext>
            </a:extLst>
          </p:cNvPr>
          <p:cNvSpPr/>
          <p:nvPr/>
        </p:nvSpPr>
        <p:spPr>
          <a:xfrm>
            <a:off x="496207" y="1261797"/>
            <a:ext cx="11419559" cy="216824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ángulo 13">
            <a:extLst>
              <a:ext uri="{FF2B5EF4-FFF2-40B4-BE49-F238E27FC236}">
                <a16:creationId xmlns:a16="http://schemas.microsoft.com/office/drawing/2014/main" id="{6AA857E7-5C39-DCE1-10B5-40300FCF4B26}"/>
              </a:ext>
            </a:extLst>
          </p:cNvPr>
          <p:cNvSpPr/>
          <p:nvPr/>
        </p:nvSpPr>
        <p:spPr>
          <a:xfrm>
            <a:off x="493736" y="3641743"/>
            <a:ext cx="11419559" cy="1782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áfico 8">
            <a:extLst>
              <a:ext uri="{FF2B5EF4-FFF2-40B4-BE49-F238E27FC236}">
                <a16:creationId xmlns:a16="http://schemas.microsoft.com/office/drawing/2014/main" id="{83C716FC-7070-6DA5-E116-195D4CD9BD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0" name="object 16">
            <a:extLst>
              <a:ext uri="{FF2B5EF4-FFF2-40B4-BE49-F238E27FC236}">
                <a16:creationId xmlns:a16="http://schemas.microsoft.com/office/drawing/2014/main" id="{C319E249-48A9-70AD-7ACE-23CF9ABF6137}"/>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#4 – Ring Resonator</a:t>
            </a:r>
          </a:p>
          <a:p>
            <a:pPr marL="12700">
              <a:spcBef>
                <a:spcPts val="100"/>
              </a:spcBef>
            </a:pPr>
            <a:r>
              <a:rPr lang="en-US" b="0" kern="0" spc="-5">
                <a:latin typeface="+mj-lt"/>
                <a:cs typeface="Lucida Sans"/>
              </a:rPr>
              <a:t>Single ring resonator – most simple case Constant coupler K (no wavelength variation)</a:t>
            </a:r>
          </a:p>
        </p:txBody>
      </p:sp>
      <p:pic>
        <p:nvPicPr>
          <p:cNvPr id="4" name="Imagen 3">
            <a:extLst>
              <a:ext uri="{FF2B5EF4-FFF2-40B4-BE49-F238E27FC236}">
                <a16:creationId xmlns:a16="http://schemas.microsoft.com/office/drawing/2014/main" id="{76EA697E-F965-C03E-2305-BD6EFAAC8A36}"/>
              </a:ext>
            </a:extLst>
          </p:cNvPr>
          <p:cNvPicPr>
            <a:picLocks noChangeAspect="1"/>
          </p:cNvPicPr>
          <p:nvPr/>
        </p:nvPicPr>
        <p:blipFill>
          <a:blip r:embed="rId3"/>
          <a:srcRect t="46134" r="-124" b="8"/>
          <a:stretch>
            <a:fillRect/>
          </a:stretch>
        </p:blipFill>
        <p:spPr>
          <a:xfrm>
            <a:off x="2925840" y="3651973"/>
            <a:ext cx="5606579" cy="1679024"/>
          </a:xfrm>
          <a:prstGeom prst="rect">
            <a:avLst/>
          </a:prstGeom>
        </p:spPr>
      </p:pic>
      <p:pic>
        <p:nvPicPr>
          <p:cNvPr id="2" name="Imagen 1" descr="Imagen que contiene Diagrama&#10;&#10;El contenido generado por IA puede ser incorrecto.">
            <a:extLst>
              <a:ext uri="{FF2B5EF4-FFF2-40B4-BE49-F238E27FC236}">
                <a16:creationId xmlns:a16="http://schemas.microsoft.com/office/drawing/2014/main" id="{D0B1FF9B-CE09-D2A3-6662-E6F3EE59B1A2}"/>
              </a:ext>
            </a:extLst>
          </p:cNvPr>
          <p:cNvPicPr>
            <a:picLocks noChangeAspect="1"/>
          </p:cNvPicPr>
          <p:nvPr/>
        </p:nvPicPr>
        <p:blipFill>
          <a:blip r:embed="rId3"/>
          <a:srcRect t="-334" r="-124" b="53468"/>
          <a:stretch>
            <a:fillRect/>
          </a:stretch>
        </p:blipFill>
        <p:spPr>
          <a:xfrm>
            <a:off x="2664642" y="1338726"/>
            <a:ext cx="7662934" cy="1999831"/>
          </a:xfrm>
          <a:prstGeom prst="rect">
            <a:avLst/>
          </a:prstGeom>
        </p:spPr>
      </p:pic>
    </p:spTree>
    <p:extLst>
      <p:ext uri="{BB962C8B-B14F-4D97-AF65-F5344CB8AC3E}">
        <p14:creationId xmlns:p14="http://schemas.microsoft.com/office/powerpoint/2010/main" val="5431845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2DF-810F-7BDA-CFF3-0CFEE760301A}"/>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4915C280-A84A-95DA-94D2-FE062C8ED61F}"/>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E919F9EF-02D5-71FC-C2BC-F8EC5B26723E}"/>
              </a:ext>
            </a:extLst>
          </p:cNvPr>
          <p:cNvSpPr>
            <a:spLocks noGrp="1"/>
          </p:cNvSpPr>
          <p:nvPr>
            <p:ph type="sldNum" sz="quarter" idx="7"/>
          </p:nvPr>
        </p:nvSpPr>
        <p:spPr/>
        <p:txBody>
          <a:bodyPr/>
          <a:lstStyle/>
          <a:p>
            <a:fld id="{C2F52289-4012-4053-9770-FE82CEB9514F}" type="slidenum">
              <a:rPr lang="en-US" smtClean="0"/>
              <a:pPr/>
              <a:t>9</a:t>
            </a:fld>
            <a:endParaRPr lang="en-US"/>
          </a:p>
        </p:txBody>
      </p:sp>
      <p:sp>
        <p:nvSpPr>
          <p:cNvPr id="8" name="CuadroTexto 7">
            <a:extLst>
              <a:ext uri="{FF2B5EF4-FFF2-40B4-BE49-F238E27FC236}">
                <a16:creationId xmlns:a16="http://schemas.microsoft.com/office/drawing/2014/main" id="{3BC6D2B9-07F5-E2FA-C9AD-029B63B098DA}"/>
              </a:ext>
            </a:extLst>
          </p:cNvPr>
          <p:cNvSpPr txBox="1"/>
          <p:nvPr/>
        </p:nvSpPr>
        <p:spPr>
          <a:xfrm>
            <a:off x="611029" y="4860335"/>
            <a:ext cx="11199530"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describer the transfer function. How’s the dependence on the coupler coefficient? Calculate the Extinction Ratio. How would you achieve critical coupling for the latter design? Justify your answers.</a:t>
            </a:r>
          </a:p>
          <a:p>
            <a:pPr algn="just"/>
            <a:r>
              <a:rPr lang="en-US" sz="1200" dirty="0">
                <a:latin typeface="Arial" panose="020B0604020202020204" pitchFamily="34" charset="0"/>
                <a:cs typeface="Arial" panose="020B0604020202020204" pitchFamily="34" charset="0"/>
              </a:rPr>
              <a:t>La </a:t>
            </a:r>
            <a:r>
              <a:rPr lang="en-US" sz="1200" dirty="0" err="1">
                <a:latin typeface="Arial" panose="020B0604020202020204" pitchFamily="34" charset="0"/>
                <a:cs typeface="Arial" panose="020B0604020202020204" pitchFamily="34" charset="0"/>
              </a:rPr>
              <a:t>función</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transferencia</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periódica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presenta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mínimos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longitudes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resonancia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pero</a:t>
            </a:r>
            <a:r>
              <a:rPr lang="en-US" sz="1200" dirty="0">
                <a:latin typeface="Arial" panose="020B0604020202020204" pitchFamily="34" charset="0"/>
                <a:cs typeface="Arial" panose="020B0604020202020204" pitchFamily="34" charset="0"/>
              </a:rPr>
              <a:t> con </a:t>
            </a:r>
            <a:r>
              <a:rPr lang="en-US" sz="1200" dirty="0" err="1">
                <a:latin typeface="Arial" panose="020B0604020202020204" pitchFamily="34" charset="0"/>
                <a:cs typeface="Arial" panose="020B0604020202020204" pitchFamily="34" charset="0"/>
              </a:rPr>
              <a:t>mínimos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profundos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anterior, no </a:t>
            </a:r>
            <a:r>
              <a:rPr lang="en-US" sz="1200" dirty="0" err="1">
                <a:latin typeface="Arial" panose="020B0604020202020204" pitchFamily="34" charset="0"/>
                <a:cs typeface="Arial" panose="020B0604020202020204" pitchFamily="34" charset="0"/>
              </a:rPr>
              <a:t>está</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acoplado</a:t>
            </a:r>
            <a:r>
              <a:rPr lang="en-US" sz="1200" dirty="0">
                <a:latin typeface="Arial" panose="020B0604020202020204" pitchFamily="34" charset="0"/>
                <a:cs typeface="Arial" panose="020B0604020202020204" pitchFamily="34" charset="0"/>
              </a:rPr>
              <a:t> de forma </a:t>
            </a:r>
            <a:r>
              <a:rPr lang="en-US" sz="1200" dirty="0" err="1">
                <a:latin typeface="Arial" panose="020B0604020202020204" pitchFamily="34" charset="0"/>
                <a:cs typeface="Arial" panose="020B0604020202020204" pitchFamily="34" charset="0"/>
              </a:rPr>
              <a:t>óptima</a:t>
            </a:r>
            <a:r>
              <a:rPr lang="en-US" sz="1200" dirty="0">
                <a:latin typeface="Arial" panose="020B0604020202020204" pitchFamily="34" charset="0"/>
                <a:cs typeface="Arial" panose="020B0604020202020204" pitchFamily="34" charset="0"/>
              </a:rPr>
              <a:t>). El </a:t>
            </a:r>
            <a:r>
              <a:rPr lang="en-US" sz="1200" dirty="0" err="1">
                <a:latin typeface="Arial" panose="020B0604020202020204" pitchFamily="34" charset="0"/>
                <a:cs typeface="Arial" panose="020B0604020202020204" pitchFamily="34" charset="0"/>
              </a:rPr>
              <a:t>acoplador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controla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cuánta</a:t>
            </a:r>
            <a:r>
              <a:rPr lang="en-US" sz="1200" dirty="0">
                <a:latin typeface="Arial" panose="020B0604020202020204" pitchFamily="34" charset="0"/>
                <a:cs typeface="Arial" panose="020B0604020202020204" pitchFamily="34" charset="0"/>
              </a:rPr>
              <a:t> luz sale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Anillo, </a:t>
            </a:r>
            <a:r>
              <a:rPr lang="en-US" sz="1200" dirty="0" err="1">
                <a:latin typeface="Arial" panose="020B0604020202020204" pitchFamily="34" charset="0"/>
                <a:cs typeface="Arial" panose="020B0604020202020204" pitchFamily="34" charset="0"/>
              </a:rPr>
              <a:t>permitiendo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obtener</a:t>
            </a:r>
            <a:r>
              <a:rPr lang="en-US" sz="1200" dirty="0">
                <a:latin typeface="Arial" panose="020B0604020202020204" pitchFamily="34" charset="0"/>
                <a:cs typeface="Arial" panose="020B0604020202020204" pitchFamily="34" charset="0"/>
              </a:rPr>
              <a:t> un ER </a:t>
            </a:r>
            <a:r>
              <a:rPr lang="en-US" sz="1200" dirty="0" err="1">
                <a:latin typeface="Arial" panose="020B0604020202020204" pitchFamily="34" charset="0"/>
                <a:cs typeface="Arial" panose="020B0604020202020204" pitchFamily="34" charset="0"/>
              </a:rPr>
              <a:t>deseado</a:t>
            </a:r>
            <a:r>
              <a:rPr lang="en-US" sz="1200" dirty="0">
                <a:latin typeface="Arial" panose="020B0604020202020204" pitchFamily="34" charset="0"/>
                <a:cs typeface="Arial" panose="020B0604020202020204" pitchFamily="34" charset="0"/>
              </a:rPr>
              <a:t>. En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ER = 1/0.4=2.5=4dB. </a:t>
            </a:r>
          </a:p>
          <a:p>
            <a:pPr algn="just"/>
            <a:r>
              <a:rPr lang="en-US" sz="1200" dirty="0">
                <a:latin typeface="Arial" panose="020B0604020202020204" pitchFamily="34" charset="0"/>
                <a:cs typeface="Arial" panose="020B0604020202020204" pitchFamily="34" charset="0"/>
              </a:rPr>
              <a:t>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crítico</a:t>
            </a:r>
            <a:r>
              <a:rPr lang="en-US" sz="1200" dirty="0">
                <a:latin typeface="Arial" panose="020B0604020202020204" pitchFamily="34" charset="0"/>
                <a:cs typeface="Arial" panose="020B0604020202020204" pitchFamily="34" charset="0"/>
              </a:rPr>
              <a:t> t=a,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a=|h| = 10^(-alpha*L/20)=0.916. 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t = sqrt(1-K), </a:t>
            </a:r>
            <a:r>
              <a:rPr lang="en-US" sz="1200" dirty="0" err="1">
                <a:latin typeface="Arial" panose="020B0604020202020204" pitchFamily="34" charset="0"/>
                <a:cs typeface="Arial" panose="020B0604020202020204" pitchFamily="34" charset="0"/>
              </a:rPr>
              <a:t>si</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despejamos</a:t>
            </a:r>
            <a:r>
              <a:rPr lang="en-US" sz="1200" dirty="0">
                <a:latin typeface="Arial" panose="020B0604020202020204" pitchFamily="34" charset="0"/>
                <a:cs typeface="Arial" panose="020B0604020202020204" pitchFamily="34" charset="0"/>
              </a:rPr>
              <a:t> K, </a:t>
            </a:r>
            <a:r>
              <a:rPr lang="en-US" sz="1200" dirty="0" err="1">
                <a:latin typeface="Arial" panose="020B0604020202020204" pitchFamily="34" charset="0"/>
                <a:cs typeface="Arial" panose="020B0604020202020204" pitchFamily="34" charset="0"/>
              </a:rPr>
              <a:t>obtenemos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conseguir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crítico</a:t>
            </a:r>
            <a:r>
              <a:rPr lang="en-US" sz="1200" dirty="0">
                <a:latin typeface="Arial" panose="020B0604020202020204" pitchFamily="34" charset="0"/>
                <a:cs typeface="Arial" panose="020B0604020202020204" pitchFamily="34" charset="0"/>
              </a:rPr>
              <a:t> K </a:t>
            </a:r>
            <a:r>
              <a:rPr lang="en-US" sz="1200" dirty="0" err="1">
                <a:latin typeface="Arial" panose="020B0604020202020204" pitchFamily="34" charset="0"/>
                <a:cs typeface="Arial" panose="020B0604020202020204" pitchFamily="34" charset="0"/>
              </a:rPr>
              <a:t>debe</a:t>
            </a:r>
            <a:r>
              <a:rPr lang="en-US" sz="1200" dirty="0">
                <a:latin typeface="Arial" panose="020B0604020202020204" pitchFamily="34" charset="0"/>
                <a:cs typeface="Arial" panose="020B0604020202020204" pitchFamily="34" charset="0"/>
              </a:rPr>
              <a:t> ser 0.1605</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p:txBody>
      </p:sp>
      <p:sp>
        <p:nvSpPr>
          <p:cNvPr id="3" name="Rectángulo 2">
            <a:extLst>
              <a:ext uri="{FF2B5EF4-FFF2-40B4-BE49-F238E27FC236}">
                <a16:creationId xmlns:a16="http://schemas.microsoft.com/office/drawing/2014/main" id="{E54DA3AC-DFE0-BB51-7C71-7CD9087359D0}"/>
              </a:ext>
            </a:extLst>
          </p:cNvPr>
          <p:cNvSpPr/>
          <p:nvPr/>
        </p:nvSpPr>
        <p:spPr>
          <a:xfrm>
            <a:off x="8610601" y="1418373"/>
            <a:ext cx="3199959"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r>
              <a:rPr lang="en-US" sz="1200" b="1">
                <a:solidFill>
                  <a:schemeClr val="tx1"/>
                </a:solidFill>
                <a:latin typeface="Arial" panose="020B0604020202020204" pitchFamily="34" charset="0"/>
                <a:cs typeface="Arial" panose="020B0604020202020204" pitchFamily="34" charset="0"/>
              </a:rPr>
              <a:t>Hints:</a:t>
            </a:r>
            <a:endParaRPr lang="en-US" sz="1200">
              <a:solidFill>
                <a:schemeClr val="tx1"/>
              </a:solidFill>
              <a:latin typeface="Arial" panose="020B0604020202020204" pitchFamily="34" charset="0"/>
              <a:cs typeface="Arial" panose="020B0604020202020204" pitchFamily="34" charset="0"/>
            </a:endParaRPr>
          </a:p>
          <a:p>
            <a:pPr algn="just"/>
            <a:endParaRPr lang="en-US" sz="1200">
              <a:solidFill>
                <a:schemeClr val="tx1"/>
              </a:solidFill>
              <a:latin typeface="Arial" panose="020B0604020202020204" pitchFamily="34" charset="0"/>
              <a:cs typeface="Arial" panose="020B0604020202020204" pitchFamily="34" charset="0"/>
            </a:endParaRPr>
          </a:p>
          <a:p>
            <a:pPr algn="just"/>
            <a:r>
              <a:rPr lang="en-US" sz="1200">
                <a:solidFill>
                  <a:schemeClr val="tx1"/>
                </a:solidFill>
                <a:latin typeface="Arial" panose="020B0604020202020204" pitchFamily="34" charset="0"/>
                <a:cs typeface="Arial" panose="020B0604020202020204" pitchFamily="34" charset="0"/>
              </a:rPr>
              <a:t>Design the perimeter for a FSR = 15 nm. </a:t>
            </a:r>
          </a:p>
          <a:p>
            <a:pPr algn="just"/>
            <a:endParaRPr lang="en-US" sz="1200">
              <a:solidFill>
                <a:schemeClr val="tx1"/>
              </a:solidFill>
              <a:latin typeface="Arial" panose="020B0604020202020204" pitchFamily="34" charset="0"/>
              <a:cs typeface="Arial" panose="020B0604020202020204" pitchFamily="34" charset="0"/>
            </a:endParaRPr>
          </a:p>
          <a:p>
            <a:pPr algn="just"/>
            <a:r>
              <a:rPr lang="en-US" sz="1200">
                <a:solidFill>
                  <a:schemeClr val="tx1"/>
                </a:solidFill>
                <a:latin typeface="Arial" panose="020B0604020202020204" pitchFamily="34" charset="0"/>
                <a:cs typeface="Arial" panose="020B0604020202020204" pitchFamily="34" charset="0"/>
              </a:rPr>
              <a:t>Use equations given in class that relate FSR and perimeter.</a:t>
            </a:r>
          </a:p>
          <a:p>
            <a:pPr algn="just"/>
            <a:endParaRPr lang="en-US" sz="1200">
              <a:solidFill>
                <a:schemeClr val="tx1"/>
              </a:solidFill>
              <a:latin typeface="Arial" panose="020B0604020202020204" pitchFamily="34" charset="0"/>
              <a:cs typeface="Arial" panose="020B0604020202020204" pitchFamily="34" charset="0"/>
            </a:endParaRPr>
          </a:p>
          <a:p>
            <a:pPr algn="just"/>
            <a:endParaRPr lang="en-US" sz="1200">
              <a:solidFill>
                <a:schemeClr val="tx1"/>
              </a:solidFill>
              <a:latin typeface="Arial" panose="020B0604020202020204" pitchFamily="34" charset="0"/>
              <a:cs typeface="Arial" panose="020B0604020202020204" pitchFamily="34" charset="0"/>
            </a:endParaRPr>
          </a:p>
          <a:p>
            <a:pPr algn="just"/>
            <a:endParaRPr lang="en-US" sz="1200">
              <a:solidFill>
                <a:schemeClr val="tx1"/>
              </a:solidFill>
              <a:latin typeface="Arial" panose="020B0604020202020204" pitchFamily="34" charset="0"/>
              <a:cs typeface="Arial" panose="020B0604020202020204" pitchFamily="34" charset="0"/>
            </a:endParaRPr>
          </a:p>
        </p:txBody>
      </p:sp>
      <p:sp>
        <p:nvSpPr>
          <p:cNvPr id="10" name="Rectángulo 9">
            <a:extLst>
              <a:ext uri="{FF2B5EF4-FFF2-40B4-BE49-F238E27FC236}">
                <a16:creationId xmlns:a16="http://schemas.microsoft.com/office/drawing/2014/main" id="{82011495-88D4-8787-6CB7-704897D84CF9}"/>
              </a:ext>
            </a:extLst>
          </p:cNvPr>
          <p:cNvSpPr/>
          <p:nvPr/>
        </p:nvSpPr>
        <p:spPr>
          <a:xfrm>
            <a:off x="663221" y="1418373"/>
            <a:ext cx="774526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Gráfico 10">
            <a:extLst>
              <a:ext uri="{FF2B5EF4-FFF2-40B4-BE49-F238E27FC236}">
                <a16:creationId xmlns:a16="http://schemas.microsoft.com/office/drawing/2014/main" id="{64B3EEA8-5B6A-F628-0B9C-42450CEE9BE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4" name="object 16">
            <a:extLst>
              <a:ext uri="{FF2B5EF4-FFF2-40B4-BE49-F238E27FC236}">
                <a16:creationId xmlns:a16="http://schemas.microsoft.com/office/drawing/2014/main" id="{4E9E05B5-9445-DD50-60E9-03B04ED264D4}"/>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#5 – Ring resonator design</a:t>
            </a:r>
          </a:p>
          <a:p>
            <a:pPr marL="12700">
              <a:spcBef>
                <a:spcPts val="100"/>
              </a:spcBef>
            </a:pPr>
            <a:r>
              <a:rPr lang="en-US" b="0" kern="0" spc="-5">
                <a:latin typeface="+mj-lt"/>
                <a:cs typeface="Lucida Sans"/>
              </a:rPr>
              <a:t>Design the perimeter for a FSR = 15 nm. </a:t>
            </a:r>
          </a:p>
        </p:txBody>
      </p:sp>
      <p:pic>
        <p:nvPicPr>
          <p:cNvPr id="7" name="Imagen 6">
            <a:extLst>
              <a:ext uri="{FF2B5EF4-FFF2-40B4-BE49-F238E27FC236}">
                <a16:creationId xmlns:a16="http://schemas.microsoft.com/office/drawing/2014/main" id="{B5BD54BD-1655-DB6F-1F60-AC0414EE3E77}"/>
              </a:ext>
            </a:extLst>
          </p:cNvPr>
          <p:cNvPicPr>
            <a:picLocks noChangeAspect="1"/>
          </p:cNvPicPr>
          <p:nvPr/>
        </p:nvPicPr>
        <p:blipFill>
          <a:blip r:embed="rId3"/>
          <a:stretch>
            <a:fillRect/>
          </a:stretch>
        </p:blipFill>
        <p:spPr>
          <a:xfrm>
            <a:off x="969849" y="1414155"/>
            <a:ext cx="5506403" cy="3159052"/>
          </a:xfrm>
          <a:prstGeom prst="rect">
            <a:avLst/>
          </a:prstGeom>
        </p:spPr>
      </p:pic>
    </p:spTree>
    <p:extLst>
      <p:ext uri="{BB962C8B-B14F-4D97-AF65-F5344CB8AC3E}">
        <p14:creationId xmlns:p14="http://schemas.microsoft.com/office/powerpoint/2010/main" val="29159892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9B3E5-6C2E-15E7-6321-0C9DE9725F51}"/>
            </a:ext>
          </a:extLst>
        </p:cNvPr>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CE47E146-E8FE-4E15-8058-ED6112FA26F5}"/>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DA87CA3E-6300-540C-2B9F-938B039AB621}"/>
              </a:ext>
            </a:extLst>
          </p:cNvPr>
          <p:cNvSpPr>
            <a:spLocks noGrp="1"/>
          </p:cNvSpPr>
          <p:nvPr>
            <p:ph type="sldNum" sz="quarter" idx="7"/>
          </p:nvPr>
        </p:nvSpPr>
        <p:spPr/>
        <p:txBody>
          <a:bodyPr/>
          <a:lstStyle/>
          <a:p>
            <a:fld id="{C2F52289-4012-4053-9770-FE82CEB9514F}" type="slidenum">
              <a:rPr lang="en-US" smtClean="0"/>
              <a:pPr/>
              <a:t>10</a:t>
            </a:fld>
            <a:endParaRPr lang="en-US"/>
          </a:p>
        </p:txBody>
      </p:sp>
      <p:sp>
        <p:nvSpPr>
          <p:cNvPr id="8" name="CuadroTexto 7">
            <a:extLst>
              <a:ext uri="{FF2B5EF4-FFF2-40B4-BE49-F238E27FC236}">
                <a16:creationId xmlns:a16="http://schemas.microsoft.com/office/drawing/2014/main" id="{C9AC04B6-1A34-BABB-8C25-C715404165A2}"/>
              </a:ext>
            </a:extLst>
          </p:cNvPr>
          <p:cNvSpPr txBox="1"/>
          <p:nvPr/>
        </p:nvSpPr>
        <p:spPr>
          <a:xfrm>
            <a:off x="611029" y="4860335"/>
            <a:ext cx="11199530"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Try to classify the resonances, in which case are you close to critical coupling? Why?</a:t>
            </a:r>
          </a:p>
          <a:p>
            <a:pPr algn="just"/>
            <a:r>
              <a:rPr lang="en-US" sz="1200" dirty="0">
                <a:latin typeface="Arial" panose="020B0604020202020204" pitchFamily="34" charset="0"/>
                <a:cs typeface="Arial" panose="020B0604020202020204" pitchFamily="34" charset="0"/>
              </a:rPr>
              <a:t>Para K =0.1 y 0.2, 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undercoupling</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dips son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profundos</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indica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no se </a:t>
            </a:r>
            <a:r>
              <a:rPr lang="en-US" sz="1200" dirty="0" err="1">
                <a:latin typeface="Arial" panose="020B0604020202020204" pitchFamily="34" charset="0"/>
                <a:cs typeface="Arial" panose="020B0604020202020204" pitchFamily="34" charset="0"/>
              </a:rPr>
              <a:t>llega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cancelar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campo </a:t>
            </a:r>
            <a:r>
              <a:rPr lang="en-US" sz="1200" dirty="0" err="1">
                <a:latin typeface="Arial" panose="020B0604020202020204" pitchFamily="34" charset="0"/>
                <a:cs typeface="Arial" panose="020B0604020202020204" pitchFamily="34" charset="0"/>
              </a:rPr>
              <a:t>directo</a:t>
            </a:r>
            <a:r>
              <a:rPr lang="en-US" sz="1200" dirty="0">
                <a:latin typeface="Arial" panose="020B0604020202020204" pitchFamily="34" charset="0"/>
                <a:cs typeface="Arial" panose="020B0604020202020204" pitchFamily="34" charset="0"/>
              </a:rPr>
              <a:t> del bus. K=0.3 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crítico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consigue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transmisión</a:t>
            </a:r>
            <a:r>
              <a:rPr lang="en-US" sz="1200" dirty="0">
                <a:latin typeface="Arial" panose="020B0604020202020204" pitchFamily="34" charset="0"/>
                <a:cs typeface="Arial" panose="020B0604020202020204" pitchFamily="34" charset="0"/>
              </a:rPr>
              <a:t> 0.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resto de </a:t>
            </a:r>
            <a:r>
              <a:rPr lang="en-US" sz="1200" dirty="0" err="1">
                <a:latin typeface="Arial" panose="020B0604020202020204" pitchFamily="34" charset="0"/>
                <a:cs typeface="Arial" panose="020B0604020202020204" pitchFamily="34" charset="0"/>
              </a:rPr>
              <a:t>acoplos</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overcoupling</a:t>
            </a:r>
            <a:r>
              <a:rPr lang="en-US" sz="1200" dirty="0">
                <a:latin typeface="Arial" panose="020B0604020202020204" pitchFamily="34" charset="0"/>
                <a:cs typeface="Arial" panose="020B0604020202020204" pitchFamily="34" charset="0"/>
              </a:rPr>
              <a:t> y no se </a:t>
            </a:r>
            <a:r>
              <a:rPr lang="en-US" sz="1200" dirty="0" err="1">
                <a:latin typeface="Arial" panose="020B0604020202020204" pitchFamily="34" charset="0"/>
                <a:cs typeface="Arial" panose="020B0604020202020204" pitchFamily="34" charset="0"/>
              </a:rPr>
              <a:t>llega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cancelar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porque</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oscila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rápido</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bus y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Anillo.  </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11" name="Rectángulo 10">
            <a:extLst>
              <a:ext uri="{FF2B5EF4-FFF2-40B4-BE49-F238E27FC236}">
                <a16:creationId xmlns:a16="http://schemas.microsoft.com/office/drawing/2014/main" id="{12A3CB92-1375-F373-4DCD-4528261F3200}"/>
              </a:ext>
            </a:extLst>
          </p:cNvPr>
          <p:cNvSpPr/>
          <p:nvPr/>
        </p:nvSpPr>
        <p:spPr>
          <a:xfrm>
            <a:off x="611030" y="1418373"/>
            <a:ext cx="253855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ángulo 13">
            <a:extLst>
              <a:ext uri="{FF2B5EF4-FFF2-40B4-BE49-F238E27FC236}">
                <a16:creationId xmlns:a16="http://schemas.microsoft.com/office/drawing/2014/main" id="{2F95996E-20E8-2296-3645-1909E172D7A5}"/>
              </a:ext>
            </a:extLst>
          </p:cNvPr>
          <p:cNvSpPr/>
          <p:nvPr/>
        </p:nvSpPr>
        <p:spPr>
          <a:xfrm>
            <a:off x="3277315" y="1419036"/>
            <a:ext cx="253855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adroTexto 14">
            <a:extLst>
              <a:ext uri="{FF2B5EF4-FFF2-40B4-BE49-F238E27FC236}">
                <a16:creationId xmlns:a16="http://schemas.microsoft.com/office/drawing/2014/main" id="{AA8D0279-CF10-5287-DD1F-64B2A2BE39D4}"/>
              </a:ext>
            </a:extLst>
          </p:cNvPr>
          <p:cNvSpPr txBox="1"/>
          <p:nvPr/>
        </p:nvSpPr>
        <p:spPr>
          <a:xfrm>
            <a:off x="863650" y="2101891"/>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a:t>K=</a:t>
            </a:r>
            <a:endParaRPr lang="en-US" sz="2000"/>
          </a:p>
        </p:txBody>
      </p:sp>
      <p:sp>
        <p:nvSpPr>
          <p:cNvPr id="9" name="Rectángulo 8">
            <a:extLst>
              <a:ext uri="{FF2B5EF4-FFF2-40B4-BE49-F238E27FC236}">
                <a16:creationId xmlns:a16="http://schemas.microsoft.com/office/drawing/2014/main" id="{90CDA062-5BD5-707F-E443-BB05C528CEC0}"/>
              </a:ext>
            </a:extLst>
          </p:cNvPr>
          <p:cNvSpPr/>
          <p:nvPr/>
        </p:nvSpPr>
        <p:spPr>
          <a:xfrm>
            <a:off x="5943600" y="1418373"/>
            <a:ext cx="253855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70FA227C-DC81-A605-6934-A536DE48E3E8}"/>
              </a:ext>
            </a:extLst>
          </p:cNvPr>
          <p:cNvSpPr txBox="1"/>
          <p:nvPr/>
        </p:nvSpPr>
        <p:spPr>
          <a:xfrm>
            <a:off x="3529935" y="2104638"/>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a:t>K=</a:t>
            </a:r>
            <a:endParaRPr lang="en-US" sz="2000"/>
          </a:p>
        </p:txBody>
      </p:sp>
      <p:sp>
        <p:nvSpPr>
          <p:cNvPr id="13" name="CuadroTexto 12">
            <a:extLst>
              <a:ext uri="{FF2B5EF4-FFF2-40B4-BE49-F238E27FC236}">
                <a16:creationId xmlns:a16="http://schemas.microsoft.com/office/drawing/2014/main" id="{9532C950-7A52-7FF8-CA2B-41296E35884B}"/>
              </a:ext>
            </a:extLst>
          </p:cNvPr>
          <p:cNvSpPr txBox="1"/>
          <p:nvPr/>
        </p:nvSpPr>
        <p:spPr>
          <a:xfrm>
            <a:off x="6195187" y="2101891"/>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a:t>K=</a:t>
            </a:r>
            <a:endParaRPr lang="en-US" sz="2000"/>
          </a:p>
        </p:txBody>
      </p:sp>
      <p:sp>
        <p:nvSpPr>
          <p:cNvPr id="12" name="CuadroTexto 11">
            <a:extLst>
              <a:ext uri="{FF2B5EF4-FFF2-40B4-BE49-F238E27FC236}">
                <a16:creationId xmlns:a16="http://schemas.microsoft.com/office/drawing/2014/main" id="{DCD47D66-2E06-417D-8786-7C74E2DC41D1}"/>
              </a:ext>
            </a:extLst>
          </p:cNvPr>
          <p:cNvSpPr txBox="1"/>
          <p:nvPr/>
        </p:nvSpPr>
        <p:spPr>
          <a:xfrm>
            <a:off x="9869875" y="2871332"/>
            <a:ext cx="360996" cy="400110"/>
          </a:xfrm>
          <a:prstGeom prst="rect">
            <a:avLst/>
          </a:prstGeom>
          <a:noFill/>
        </p:spPr>
        <p:txBody>
          <a:bodyPr wrap="none" rtlCol="0">
            <a:spAutoFit/>
          </a:bodyPr>
          <a:lstStyle/>
          <a:p>
            <a:pPr algn="ctr"/>
            <a:r>
              <a:rPr lang="es-ES" sz="2000"/>
              <a:t>…</a:t>
            </a:r>
            <a:endParaRPr lang="en-US" sz="2000"/>
          </a:p>
        </p:txBody>
      </p:sp>
      <p:pic>
        <p:nvPicPr>
          <p:cNvPr id="3" name="Gráfico 2">
            <a:extLst>
              <a:ext uri="{FF2B5EF4-FFF2-40B4-BE49-F238E27FC236}">
                <a16:creationId xmlns:a16="http://schemas.microsoft.com/office/drawing/2014/main" id="{C45B67EF-B899-232D-2F28-5F48D29651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6" name="object 16">
            <a:extLst>
              <a:ext uri="{FF2B5EF4-FFF2-40B4-BE49-F238E27FC236}">
                <a16:creationId xmlns:a16="http://schemas.microsoft.com/office/drawing/2014/main" id="{410003C0-9ACD-74A7-D3B5-A4B681BEAB1F}"/>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#6a – Effect of K </a:t>
            </a:r>
          </a:p>
          <a:p>
            <a:pPr marL="12700">
              <a:spcBef>
                <a:spcPts val="100"/>
              </a:spcBef>
            </a:pPr>
            <a:r>
              <a:rPr lang="en-US" b="0" kern="0" spc="-5">
                <a:latin typeface="+mj-lt"/>
                <a:cs typeface="Lucida Sans"/>
              </a:rPr>
              <a:t>Change K value between 0.1 and 0.9 in steps of 0.1</a:t>
            </a:r>
          </a:p>
        </p:txBody>
      </p:sp>
      <p:pic>
        <p:nvPicPr>
          <p:cNvPr id="18" name="Imagen 17">
            <a:extLst>
              <a:ext uri="{FF2B5EF4-FFF2-40B4-BE49-F238E27FC236}">
                <a16:creationId xmlns:a16="http://schemas.microsoft.com/office/drawing/2014/main" id="{7EB7E535-97F4-7B8E-B278-760728CEC3EE}"/>
              </a:ext>
            </a:extLst>
          </p:cNvPr>
          <p:cNvPicPr>
            <a:picLocks noChangeAspect="1"/>
          </p:cNvPicPr>
          <p:nvPr/>
        </p:nvPicPr>
        <p:blipFill>
          <a:blip r:embed="rId3"/>
          <a:stretch>
            <a:fillRect/>
          </a:stretch>
        </p:blipFill>
        <p:spPr>
          <a:xfrm>
            <a:off x="630389" y="1378011"/>
            <a:ext cx="5432913" cy="3386751"/>
          </a:xfrm>
          <a:prstGeom prst="rect">
            <a:avLst/>
          </a:prstGeom>
        </p:spPr>
      </p:pic>
      <p:pic>
        <p:nvPicPr>
          <p:cNvPr id="21" name="Imagen 20">
            <a:extLst>
              <a:ext uri="{FF2B5EF4-FFF2-40B4-BE49-F238E27FC236}">
                <a16:creationId xmlns:a16="http://schemas.microsoft.com/office/drawing/2014/main" id="{A904A1F8-481D-2CF3-B28D-33560EABBC1C}"/>
              </a:ext>
            </a:extLst>
          </p:cNvPr>
          <p:cNvPicPr>
            <a:picLocks noChangeAspect="1"/>
          </p:cNvPicPr>
          <p:nvPr/>
        </p:nvPicPr>
        <p:blipFill>
          <a:blip r:embed="rId4"/>
          <a:stretch>
            <a:fillRect/>
          </a:stretch>
        </p:blipFill>
        <p:spPr>
          <a:xfrm>
            <a:off x="5162867" y="1262884"/>
            <a:ext cx="5686565" cy="3544872"/>
          </a:xfrm>
          <a:prstGeom prst="rect">
            <a:avLst/>
          </a:prstGeom>
        </p:spPr>
      </p:pic>
    </p:spTree>
    <p:extLst>
      <p:ext uri="{BB962C8B-B14F-4D97-AF65-F5344CB8AC3E}">
        <p14:creationId xmlns:p14="http://schemas.microsoft.com/office/powerpoint/2010/main" val="34554166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11</a:t>
            </a:fld>
            <a:endParaRPr lang="en-US"/>
          </a:p>
        </p:txBody>
      </p:sp>
      <p:sp>
        <p:nvSpPr>
          <p:cNvPr id="8" name="CuadroTexto 7">
            <a:extLst>
              <a:ext uri="{FF2B5EF4-FFF2-40B4-BE49-F238E27FC236}">
                <a16:creationId xmlns:a16="http://schemas.microsoft.com/office/drawing/2014/main" id="{D9601617-351E-AE1A-1F4D-693F2EA59361}"/>
              </a:ext>
            </a:extLst>
          </p:cNvPr>
          <p:cNvSpPr txBox="1"/>
          <p:nvPr/>
        </p:nvSpPr>
        <p:spPr>
          <a:xfrm>
            <a:off x="611029" y="4860335"/>
            <a:ext cx="11199530"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Try to classify the resonances, in which case are you close to critical coupling? Why?</a:t>
            </a:r>
          </a:p>
          <a:p>
            <a:pPr algn="just"/>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tiene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overcoupling</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todo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barrido</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dado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acoplo</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muy</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pequeño</a:t>
            </a:r>
            <a:r>
              <a:rPr lang="en-US" sz="1200" dirty="0">
                <a:latin typeface="Arial" panose="020B0604020202020204" pitchFamily="34" charset="0"/>
                <a:cs typeface="Arial" panose="020B0604020202020204" pitchFamily="34" charset="0"/>
              </a:rPr>
              <a:t> (0.025). </a:t>
            </a:r>
            <a:r>
              <a:rPr lang="en-US" sz="1200" dirty="0" err="1">
                <a:latin typeface="Arial" panose="020B0604020202020204" pitchFamily="34" charset="0"/>
                <a:cs typeface="Arial" panose="020B0604020202020204" pitchFamily="34" charset="0"/>
              </a:rPr>
              <a:t>Según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vamos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acercando</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crítico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pues</a:t>
            </a:r>
            <a:r>
              <a:rPr lang="en-US" sz="1200" dirty="0">
                <a:latin typeface="Arial" panose="020B0604020202020204" pitchFamily="34" charset="0"/>
                <a:cs typeface="Arial" panose="020B0604020202020204" pitchFamily="34" charset="0"/>
              </a:rPr>
              <a:t> se reduce la </a:t>
            </a:r>
            <a:r>
              <a:rPr lang="en-US" sz="1200" dirty="0" err="1">
                <a:latin typeface="Arial" panose="020B0604020202020204" pitchFamily="34" charset="0"/>
                <a:cs typeface="Arial" panose="020B0604020202020204" pitchFamily="34" charset="0"/>
              </a:rPr>
              <a:t>potencia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recircula</a:t>
            </a:r>
            <a:r>
              <a:rPr lang="en-US" sz="1200" dirty="0">
                <a:latin typeface="Arial" panose="020B0604020202020204" pitchFamily="34" charset="0"/>
                <a:cs typeface="Arial" panose="020B0604020202020204" pitchFamily="34" charset="0"/>
              </a:rPr>
              <a:t> y las </a:t>
            </a:r>
            <a:r>
              <a:rPr lang="en-US" sz="1200" dirty="0" err="1">
                <a:latin typeface="Arial" panose="020B0604020202020204" pitchFamily="34" charset="0"/>
                <a:cs typeface="Arial" panose="020B0604020202020204" pitchFamily="34" charset="0"/>
              </a:rPr>
              <a:t>pérdidas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empiezan</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parecerse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14" name="Rectángulo 13">
            <a:extLst>
              <a:ext uri="{FF2B5EF4-FFF2-40B4-BE49-F238E27FC236}">
                <a16:creationId xmlns:a16="http://schemas.microsoft.com/office/drawing/2014/main" id="{6AA857E7-5C39-DCE1-10B5-40300FCF4B26}"/>
              </a:ext>
            </a:extLst>
          </p:cNvPr>
          <p:cNvSpPr/>
          <p:nvPr/>
        </p:nvSpPr>
        <p:spPr>
          <a:xfrm>
            <a:off x="3277315" y="1419036"/>
            <a:ext cx="253855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ángulo 8">
            <a:extLst>
              <a:ext uri="{FF2B5EF4-FFF2-40B4-BE49-F238E27FC236}">
                <a16:creationId xmlns:a16="http://schemas.microsoft.com/office/drawing/2014/main" id="{11F0F5FC-B571-59FC-7890-3105A6A843BB}"/>
              </a:ext>
            </a:extLst>
          </p:cNvPr>
          <p:cNvSpPr/>
          <p:nvPr/>
        </p:nvSpPr>
        <p:spPr>
          <a:xfrm>
            <a:off x="5943600" y="1418373"/>
            <a:ext cx="2538552"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adroTexto 9">
            <a:extLst>
              <a:ext uri="{FF2B5EF4-FFF2-40B4-BE49-F238E27FC236}">
                <a16:creationId xmlns:a16="http://schemas.microsoft.com/office/drawing/2014/main" id="{3146642F-220B-8F6A-59A8-2D128DDF3BEB}"/>
              </a:ext>
            </a:extLst>
          </p:cNvPr>
          <p:cNvSpPr txBox="1"/>
          <p:nvPr/>
        </p:nvSpPr>
        <p:spPr>
          <a:xfrm>
            <a:off x="3529935" y="2104638"/>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err="1"/>
              <a:t>alpha</a:t>
            </a:r>
            <a:r>
              <a:rPr lang="es-ES" sz="2000"/>
              <a:t>=1 dB/cm</a:t>
            </a:r>
            <a:endParaRPr lang="en-US" sz="2000"/>
          </a:p>
        </p:txBody>
      </p:sp>
      <p:sp>
        <p:nvSpPr>
          <p:cNvPr id="13" name="CuadroTexto 12">
            <a:extLst>
              <a:ext uri="{FF2B5EF4-FFF2-40B4-BE49-F238E27FC236}">
                <a16:creationId xmlns:a16="http://schemas.microsoft.com/office/drawing/2014/main" id="{057C499E-829F-FB11-9128-843C937CB822}"/>
              </a:ext>
            </a:extLst>
          </p:cNvPr>
          <p:cNvSpPr txBox="1"/>
          <p:nvPr/>
        </p:nvSpPr>
        <p:spPr>
          <a:xfrm>
            <a:off x="6195187" y="2101891"/>
            <a:ext cx="2033313" cy="1938992"/>
          </a:xfrm>
          <a:prstGeom prst="rect">
            <a:avLst/>
          </a:prstGeom>
          <a:noFill/>
        </p:spPr>
        <p:txBody>
          <a:bodyPr wrap="none" rtlCol="0">
            <a:spAutoFit/>
          </a:bodyPr>
          <a:lstStyle/>
          <a:p>
            <a:pPr algn="ctr"/>
            <a:r>
              <a:rPr lang="es-ES" sz="2000"/>
              <a:t>Single ring</a:t>
            </a:r>
          </a:p>
          <a:p>
            <a:pPr algn="ctr"/>
            <a:r>
              <a:rPr lang="es-ES" sz="2000"/>
              <a:t>transfer </a:t>
            </a:r>
            <a:r>
              <a:rPr lang="es-ES" sz="2000" err="1"/>
              <a:t>functions</a:t>
            </a:r>
            <a:endParaRPr lang="es-ES" sz="2000"/>
          </a:p>
          <a:p>
            <a:pPr algn="ctr"/>
            <a:endParaRPr lang="es-ES" sz="2000"/>
          </a:p>
          <a:p>
            <a:pPr algn="ctr"/>
            <a:r>
              <a:rPr lang="es-ES" sz="2000"/>
              <a:t>Linear </a:t>
            </a:r>
            <a:r>
              <a:rPr lang="es-ES" sz="2000" err="1"/>
              <a:t>units</a:t>
            </a:r>
            <a:endParaRPr lang="es-ES" sz="2000"/>
          </a:p>
          <a:p>
            <a:pPr algn="ctr"/>
            <a:endParaRPr lang="es-ES" sz="2000"/>
          </a:p>
          <a:p>
            <a:pPr algn="ctr"/>
            <a:r>
              <a:rPr lang="es-ES" sz="2000" err="1"/>
              <a:t>alpha</a:t>
            </a:r>
            <a:r>
              <a:rPr lang="es-ES" sz="2000"/>
              <a:t>=2 dB/cm</a:t>
            </a:r>
            <a:endParaRPr lang="en-US" sz="2000"/>
          </a:p>
        </p:txBody>
      </p:sp>
      <p:pic>
        <p:nvPicPr>
          <p:cNvPr id="17" name="Gráfico 16">
            <a:extLst>
              <a:ext uri="{FF2B5EF4-FFF2-40B4-BE49-F238E27FC236}">
                <a16:creationId xmlns:a16="http://schemas.microsoft.com/office/drawing/2014/main" id="{16D15CB1-2EB9-A3F2-8611-C524CCD1CAE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18" name="object 16">
            <a:extLst>
              <a:ext uri="{FF2B5EF4-FFF2-40B4-BE49-F238E27FC236}">
                <a16:creationId xmlns:a16="http://schemas.microsoft.com/office/drawing/2014/main" id="{989133D6-A9B3-EFEA-2703-51A6BDA0A885}"/>
              </a:ext>
            </a:extLst>
          </p:cNvPr>
          <p:cNvSpPr txBox="1">
            <a:spLocks/>
          </p:cNvSpPr>
          <p:nvPr/>
        </p:nvSpPr>
        <p:spPr>
          <a:xfrm>
            <a:off x="685800" y="408883"/>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#6b – E</a:t>
            </a:r>
            <a:r>
              <a:rPr lang="en-US" sz="2500"/>
              <a:t>ffect of loss</a:t>
            </a:r>
            <a:endParaRPr lang="en-US" sz="2500" kern="0"/>
          </a:p>
          <a:p>
            <a:pPr marL="12700">
              <a:spcBef>
                <a:spcPts val="100"/>
              </a:spcBef>
            </a:pPr>
            <a:r>
              <a:rPr lang="en-US" b="0" kern="0" spc="-5">
                <a:latin typeface="+mj-lt"/>
                <a:cs typeface="Lucida Sans"/>
              </a:rPr>
              <a:t>Change losses value between 0 and 8 </a:t>
            </a:r>
            <a:r>
              <a:rPr lang="en-US" b="0" kern="0" spc="-5">
                <a:solidFill>
                  <a:srgbClr val="FF0000"/>
                </a:solidFill>
                <a:latin typeface="+mj-lt"/>
                <a:cs typeface="Lucida Sans"/>
              </a:rPr>
              <a:t>dB/cm </a:t>
            </a:r>
            <a:r>
              <a:rPr lang="en-US" b="0" kern="0" spc="-5">
                <a:latin typeface="+mj-lt"/>
                <a:cs typeface="Lucida Sans"/>
              </a:rPr>
              <a:t>in steps of 1</a:t>
            </a:r>
          </a:p>
        </p:txBody>
      </p:sp>
      <p:pic>
        <p:nvPicPr>
          <p:cNvPr id="4" name="Imagen 3">
            <a:extLst>
              <a:ext uri="{FF2B5EF4-FFF2-40B4-BE49-F238E27FC236}">
                <a16:creationId xmlns:a16="http://schemas.microsoft.com/office/drawing/2014/main" id="{A9B03AEE-DFC8-C80A-0512-31493E02A424}"/>
              </a:ext>
            </a:extLst>
          </p:cNvPr>
          <p:cNvPicPr>
            <a:picLocks noChangeAspect="1"/>
          </p:cNvPicPr>
          <p:nvPr/>
        </p:nvPicPr>
        <p:blipFill>
          <a:blip r:embed="rId3"/>
          <a:stretch>
            <a:fillRect/>
          </a:stretch>
        </p:blipFill>
        <p:spPr>
          <a:xfrm>
            <a:off x="2442954" y="1205729"/>
            <a:ext cx="6550598" cy="3586639"/>
          </a:xfrm>
          <a:prstGeom prst="rect">
            <a:avLst/>
          </a:prstGeom>
        </p:spPr>
      </p:pic>
    </p:spTree>
    <p:extLst>
      <p:ext uri="{BB962C8B-B14F-4D97-AF65-F5344CB8AC3E}">
        <p14:creationId xmlns:p14="http://schemas.microsoft.com/office/powerpoint/2010/main" val="1461196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a:solidFill>
                  <a:srgbClr val="FFFFFF"/>
                </a:solidFill>
                <a:latin typeface="Lucida Sans"/>
                <a:cs typeface="Lucida Sans"/>
              </a:rPr>
              <a:t>Thank</a:t>
            </a:r>
            <a:r>
              <a:rPr sz="3200" b="1" spc="-55">
                <a:solidFill>
                  <a:srgbClr val="FFFFFF"/>
                </a:solidFill>
                <a:latin typeface="Lucida Sans"/>
                <a:cs typeface="Lucida Sans"/>
              </a:rPr>
              <a:t> </a:t>
            </a:r>
            <a:r>
              <a:rPr sz="3200" b="1">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12</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782</TotalTime>
  <Words>1593</Words>
  <Application>Microsoft Office PowerPoint</Application>
  <PresentationFormat>Panorámica</PresentationFormat>
  <Paragraphs>179</Paragraphs>
  <Slides>12</Slides>
  <Notes>2</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12</vt:i4>
      </vt:variant>
    </vt:vector>
  </HeadingPairs>
  <TitlesOfParts>
    <vt:vector size="19" baseType="lpstr">
      <vt:lpstr>Aptos</vt:lpstr>
      <vt:lpstr>Arial</vt:lpstr>
      <vt:lpstr>Calibri</vt:lpstr>
      <vt:lpstr>Cambria Math</vt:lpstr>
      <vt:lpstr>Lucida Sans</vt:lpstr>
      <vt:lpstr>Wingdings</vt:lpstr>
      <vt:lpstr>Office Theme</vt:lpstr>
      <vt:lpstr>Presentación de PowerPoint</vt:lpstr>
      <vt:lpstr>Instructions General</vt:lpstr>
      <vt:lpstr>Learning outcome #1a – Perfectly balanced MZI </vt:lpstr>
      <vt:lpstr>Learning outcome #1b – Unbalanced MZI </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Alexia Ruiz Rocamora</cp:lastModifiedBy>
  <cp:revision>1</cp:revision>
  <dcterms:created xsi:type="dcterms:W3CDTF">2025-01-27T02:46:57Z</dcterms:created>
  <dcterms:modified xsi:type="dcterms:W3CDTF">2026-05-27T11:39:18Z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